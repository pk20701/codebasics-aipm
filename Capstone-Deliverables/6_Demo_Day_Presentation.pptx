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864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737360"/>
            <a:ext cx="7315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ContractGuard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6583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0" i="0">
                <a:solidFill>
                  <a:srgbClr val="5BA8FF"/>
                </a:solidFill>
                <a:latin typeface="Calibri"/>
              </a:rPr>
              <a:t>The night Karandeep stopped reviewing alone</a:t>
            </a:r>
          </a:p>
        </p:txBody>
      </p:sp>
      <p:pic>
        <p:nvPicPr>
          <p:cNvPr id="4" name="Picture 3" descr="av_k_neu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54480"/>
            <a:ext cx="1920240" cy="1920240"/>
          </a:xfrm>
          <a:prstGeom prst="rect">
            <a:avLst/>
          </a:prstGeom>
        </p:spPr>
      </p:pic>
      <p:pic>
        <p:nvPicPr>
          <p:cNvPr id="5" name="Picture 4" descr="av_p_confi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155448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9FB3CF"/>
                </a:solidFill>
                <a:latin typeface="Calibri"/>
              </a:rPr>
              <a:t>Prasanna Kamthekar  |  AI PM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3657600"/>
            <a:ext cx="4114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9FB3CF"/>
                </a:solidFill>
                <a:latin typeface="Calibri"/>
              </a:rPr>
              <a:t>Karandeep, CEO  and  Peter, AI PM (fictional)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10:42 PM  |  THE PROBLEM (BASELINE)</a:t>
            </a:r>
          </a:p>
        </p:txBody>
      </p:sp>
      <p:pic>
        <p:nvPicPr>
          <p:cNvPr id="3" name="Picture 2" descr="av_k_frustr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88720"/>
            <a:ext cx="2651760" cy="2651760"/>
          </a:xfrm>
          <a:prstGeom prst="rect">
            <a:avLst/>
          </a:prstGeom>
        </p:spPr>
      </p:pic>
      <p:sp>
        <p:nvSpPr>
          <p:cNvPr id="4" name="r1"/>
          <p:cNvSpPr txBox="1"/>
          <p:nvPr/>
        </p:nvSpPr>
        <p:spPr>
          <a:xfrm>
            <a:off x="548640" y="4023360"/>
            <a:ext cx="420624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0" i="1">
                <a:solidFill>
                  <a:srgbClr val="FFFFFF"/>
                </a:solidFill>
                <a:latin typeface="Calibri"/>
              </a:rPr>
              <a:t>"The only system I have is my memory."</a:t>
            </a:r>
          </a:p>
        </p:txBody>
      </p:sp>
      <p:sp>
        <p:nvSpPr>
          <p:cNvPr id="5" name="r2"/>
          <p:cNvSpPr/>
          <p:nvPr/>
        </p:nvSpPr>
        <p:spPr>
          <a:xfrm>
            <a:off x="5029200" y="118872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2–8 h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to review one contract</a:t>
            </a:r>
          </a:p>
        </p:txBody>
      </p:sp>
      <p:sp>
        <p:nvSpPr>
          <p:cNvPr id="6" name="r3"/>
          <p:cNvSpPr/>
          <p:nvPr/>
        </p:nvSpPr>
        <p:spPr>
          <a:xfrm>
            <a:off x="8503920" y="118872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1–4 wks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in his queue</a:t>
            </a:r>
          </a:p>
        </p:txBody>
      </p:sp>
      <p:sp>
        <p:nvSpPr>
          <p:cNvPr id="7" name="r4"/>
          <p:cNvSpPr/>
          <p:nvPr/>
        </p:nvSpPr>
        <p:spPr>
          <a:xfrm>
            <a:off x="5029200" y="356616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6000" b="1">
                <a:solidFill>
                  <a:srgbClr val="FF5A4F"/>
                </a:solidFill>
                <a:latin typeface="Calibri"/>
              </a:rPr>
              <a:t>$23.2k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lost to one rushed signature</a:t>
            </a:r>
          </a:p>
        </p:txBody>
      </p:sp>
      <p:sp>
        <p:nvSpPr>
          <p:cNvPr id="8" name="r5"/>
          <p:cNvSpPr/>
          <p:nvPr/>
        </p:nvSpPr>
        <p:spPr>
          <a:xfrm>
            <a:off x="8503920" y="3566160"/>
            <a:ext cx="3291840" cy="219456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6000" b="1">
                <a:solidFill>
                  <a:srgbClr val="FFA630"/>
                </a:solidFill>
                <a:latin typeface="Calibri"/>
              </a:rPr>
              <a:t>$140k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deal stuck on a promise nobody can find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SCENE 2  |  PETER ASKS WHY</a:t>
            </a:r>
          </a:p>
        </p:txBody>
      </p:sp>
      <p:sp>
        <p:nvSpPr>
          <p:cNvPr id="3" name="r1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0" i="1">
                <a:solidFill>
                  <a:srgbClr val="FFFFFF"/>
                </a:solidFill>
                <a:latin typeface="Calibri"/>
              </a:rPr>
              <a:t>"Is it slow reading... or something else?"</a:t>
            </a:r>
          </a:p>
        </p:txBody>
      </p:sp>
      <p:sp>
        <p:nvSpPr>
          <p:cNvPr id="4" name="r2"/>
          <p:cNvSpPr/>
          <p:nvPr/>
        </p:nvSpPr>
        <p:spPr>
          <a:xfrm>
            <a:off x="502920" y="2194560"/>
            <a:ext cx="2103120" cy="210312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Risky deals get signed</a:t>
            </a:r>
          </a:p>
        </p:txBody>
      </p:sp>
      <p:sp>
        <p:nvSpPr>
          <p:cNvPr id="5" name="r3"/>
          <p:cNvSpPr/>
          <p:nvPr/>
        </p:nvSpPr>
        <p:spPr>
          <a:xfrm>
            <a:off x="2788920" y="2194560"/>
            <a:ext cx="2103120" cy="210312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He reads alone</a:t>
            </a:r>
          </a:p>
        </p:txBody>
      </p:sp>
      <p:sp>
        <p:nvSpPr>
          <p:cNvPr id="6" name="r4"/>
          <p:cNvSpPr/>
          <p:nvPr/>
        </p:nvSpPr>
        <p:spPr>
          <a:xfrm>
            <a:off x="5074920" y="2194560"/>
            <a:ext cx="2103120" cy="210312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Only he has the context</a:t>
            </a:r>
          </a:p>
        </p:txBody>
      </p:sp>
      <p:sp>
        <p:nvSpPr>
          <p:cNvPr id="7" name="r5"/>
          <p:cNvSpPr/>
          <p:nvPr/>
        </p:nvSpPr>
        <p:spPr>
          <a:xfrm>
            <a:off x="7360920" y="2194560"/>
            <a:ext cx="2103120" cy="210312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Promises are stored nowhere</a:t>
            </a:r>
          </a:p>
        </p:txBody>
      </p:sp>
      <p:sp>
        <p:nvSpPr>
          <p:cNvPr id="8" name="r6"/>
          <p:cNvSpPr/>
          <p:nvPr/>
        </p:nvSpPr>
        <p:spPr>
          <a:xfrm>
            <a:off x="9646920" y="2194560"/>
            <a:ext cx="2103120" cy="2103120"/>
          </a:xfrm>
          <a:prstGeom prst="roundRect">
            <a:avLst>
              <a:gd name="adj" fmla="val 10000"/>
            </a:avLst>
          </a:prstGeom>
          <a:solidFill>
            <a:srgbClr val="FF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Process ends at signature</a:t>
            </a:r>
          </a:p>
        </p:txBody>
      </p:sp>
      <p:sp>
        <p:nvSpPr>
          <p:cNvPr id="9" name="r7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FFA630"/>
                </a:solidFill>
                <a:latin typeface="Calibri"/>
              </a:rPr>
              <a:t>A faster reader would not have saved Gulf Crown.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 animBg="1"/>
      <p:bldP spid="8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THE IDEA</a:t>
            </a:r>
          </a:p>
        </p:txBody>
      </p:sp>
      <p:sp>
        <p:nvSpPr>
          <p:cNvPr id="3" name="r1"/>
          <p:cNvSpPr/>
          <p:nvPr/>
        </p:nvSpPr>
        <p:spPr>
          <a:xfrm>
            <a:off x="731520" y="1097280"/>
            <a:ext cx="3383280" cy="22860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CODE</a:t>
            </a:r>
          </a:p>
          <a:p>
            <a:pPr algn="ctr"/>
            <a:r>
              <a:rPr sz="2600">
                <a:solidFill>
                  <a:srgbClr val="9FB3CF"/>
                </a:solidFill>
                <a:latin typeface="Calibri"/>
              </a:rPr>
              <a:t>checks the facts</a:t>
            </a:r>
          </a:p>
        </p:txBody>
      </p:sp>
      <p:sp>
        <p:nvSpPr>
          <p:cNvPr id="4" name="r2"/>
          <p:cNvSpPr/>
          <p:nvPr/>
        </p:nvSpPr>
        <p:spPr>
          <a:xfrm>
            <a:off x="4389120" y="1097280"/>
            <a:ext cx="3383280" cy="22860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AI</a:t>
            </a:r>
          </a:p>
          <a:p>
            <a:pPr algn="ctr"/>
            <a:r>
              <a:rPr sz="2600">
                <a:solidFill>
                  <a:srgbClr val="9FB3CF"/>
                </a:solidFill>
                <a:latin typeface="Calibri"/>
              </a:rPr>
              <a:t>reads the text</a:t>
            </a:r>
          </a:p>
        </p:txBody>
      </p:sp>
      <p:sp>
        <p:nvSpPr>
          <p:cNvPr id="5" name="r3"/>
          <p:cNvSpPr/>
          <p:nvPr/>
        </p:nvSpPr>
        <p:spPr>
          <a:xfrm>
            <a:off x="8046720" y="1097280"/>
            <a:ext cx="3383280" cy="2286000"/>
          </a:xfrm>
          <a:prstGeom prst="roundRect">
            <a:avLst>
              <a:gd name="adj" fmla="val 10000"/>
            </a:avLst>
          </a:prstGeom>
          <a:solidFill>
            <a:srgbClr val="223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4400" b="1">
                <a:solidFill>
                  <a:srgbClr val="3DDC97"/>
                </a:solidFill>
                <a:latin typeface="Calibri"/>
              </a:rPr>
              <a:t>A PERSON</a:t>
            </a:r>
          </a:p>
          <a:p>
            <a:pPr algn="ctr"/>
            <a:r>
              <a:rPr sz="2600">
                <a:solidFill>
                  <a:srgbClr val="9FB3CF"/>
                </a:solidFill>
                <a:latin typeface="Calibri"/>
              </a:rPr>
              <a:t>decides</a:t>
            </a:r>
          </a:p>
        </p:txBody>
      </p:sp>
      <p:sp>
        <p:nvSpPr>
          <p:cNvPr id="6" name="r4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Add  →  Confirm  →  Review  →  Decide  →  Sign by hand</a:t>
            </a:r>
          </a:p>
        </p:txBody>
      </p:sp>
      <p:sp>
        <p:nvSpPr>
          <p:cNvPr id="7" name="r5"/>
          <p:cNvSpPr/>
          <p:nvPr/>
        </p:nvSpPr>
        <p:spPr>
          <a:xfrm>
            <a:off x="731520" y="4846320"/>
            <a:ext cx="10698480" cy="1280160"/>
          </a:xfrm>
          <a:prstGeom prst="roundRect">
            <a:avLst>
              <a:gd name="adj" fmla="val 10000"/>
            </a:avLst>
          </a:prstGeom>
          <a:solidFill>
            <a:srgbClr val="FF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It never signs.</a:t>
            </a:r>
          </a:p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"Will it sign for me?"   "Never."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TECH STACK  |  PROTOTYPE TODAY, STRATEGIC NEXT</a:t>
            </a:r>
          </a:p>
        </p:txBody>
      </p:sp>
      <p:sp>
        <p:nvSpPr>
          <p:cNvPr id="3" name="r1_h"/>
          <p:cNvSpPr txBox="1"/>
          <p:nvPr/>
        </p:nvSpPr>
        <p:spPr>
          <a:xfrm>
            <a:off x="2377440" y="1051560"/>
            <a:ext cx="4023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9FB3CF"/>
                </a:solidFill>
                <a:latin typeface="Calibri"/>
              </a:rPr>
              <a:t>PROTOTYPE</a:t>
            </a:r>
          </a:p>
        </p:txBody>
      </p:sp>
      <p:sp>
        <p:nvSpPr>
          <p:cNvPr id="4" name="r2_h"/>
          <p:cNvSpPr txBox="1"/>
          <p:nvPr/>
        </p:nvSpPr>
        <p:spPr>
          <a:xfrm>
            <a:off x="7132320" y="1051560"/>
            <a:ext cx="4663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3DDC97"/>
                </a:solidFill>
                <a:latin typeface="Calibri"/>
              </a:rPr>
              <a:t>STRATEGIC</a:t>
            </a:r>
          </a:p>
        </p:txBody>
      </p:sp>
      <p:sp>
        <p:nvSpPr>
          <p:cNvPr id="5" name="r1_l0"/>
          <p:cNvSpPr txBox="1"/>
          <p:nvPr/>
        </p:nvSpPr>
        <p:spPr>
          <a:xfrm>
            <a:off x="548640" y="1600200"/>
            <a:ext cx="1737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Interface</a:t>
            </a:r>
          </a:p>
        </p:txBody>
      </p:sp>
      <p:pic>
        <p:nvPicPr>
          <p:cNvPr id="6" name="r1_a0_0" descr="html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691640"/>
            <a:ext cx="502920" cy="502920"/>
          </a:xfrm>
          <a:prstGeom prst="rect">
            <a:avLst/>
          </a:prstGeom>
        </p:spPr>
      </p:pic>
      <p:pic>
        <p:nvPicPr>
          <p:cNvPr id="7" name="r1_a0_1" descr="javascr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1691640"/>
            <a:ext cx="502920" cy="502920"/>
          </a:xfrm>
          <a:prstGeom prst="rect">
            <a:avLst/>
          </a:prstGeom>
        </p:spPr>
      </p:pic>
      <p:sp>
        <p:nvSpPr>
          <p:cNvPr id="8" name="r1_t0"/>
          <p:cNvSpPr txBox="1"/>
          <p:nvPr/>
        </p:nvSpPr>
        <p:spPr>
          <a:xfrm>
            <a:off x="3611879" y="1600200"/>
            <a:ext cx="25603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One static web page</a:t>
            </a:r>
          </a:p>
        </p:txBody>
      </p:sp>
      <p:sp>
        <p:nvSpPr>
          <p:cNvPr id="9" name="r2_ar0"/>
          <p:cNvSpPr txBox="1"/>
          <p:nvPr/>
        </p:nvSpPr>
        <p:spPr>
          <a:xfrm>
            <a:off x="6400800" y="1600200"/>
            <a:ext cx="5486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 i="0">
                <a:solidFill>
                  <a:srgbClr val="9FB3CF"/>
                </a:solidFill>
                <a:latin typeface="Calibri"/>
              </a:rPr>
              <a:t>→</a:t>
            </a:r>
          </a:p>
        </p:txBody>
      </p:sp>
      <p:pic>
        <p:nvPicPr>
          <p:cNvPr id="10" name="r2_b0_0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691640"/>
            <a:ext cx="502920" cy="502920"/>
          </a:xfrm>
          <a:prstGeom prst="rect">
            <a:avLst/>
          </a:prstGeom>
        </p:spPr>
      </p:pic>
      <p:pic>
        <p:nvPicPr>
          <p:cNvPr id="11" name="r2_b0_1" descr="nextdotj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1691640"/>
            <a:ext cx="502920" cy="502920"/>
          </a:xfrm>
          <a:prstGeom prst="rect">
            <a:avLst/>
          </a:prstGeom>
        </p:spPr>
      </p:pic>
      <p:sp>
        <p:nvSpPr>
          <p:cNvPr id="12" name="r2_u0"/>
          <p:cNvSpPr txBox="1"/>
          <p:nvPr/>
        </p:nvSpPr>
        <p:spPr>
          <a:xfrm>
            <a:off x="8321040" y="1600200"/>
            <a:ext cx="342899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React app, works on a phone</a:t>
            </a:r>
          </a:p>
        </p:txBody>
      </p:sp>
      <p:sp>
        <p:nvSpPr>
          <p:cNvPr id="13" name="r1_l1"/>
          <p:cNvSpPr txBox="1"/>
          <p:nvPr/>
        </p:nvSpPr>
        <p:spPr>
          <a:xfrm>
            <a:off x="548640" y="2359152"/>
            <a:ext cx="1737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pic>
        <p:nvPicPr>
          <p:cNvPr id="14" name="r1_a1_0" descr="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40" y="2450592"/>
            <a:ext cx="502920" cy="502920"/>
          </a:xfrm>
          <a:prstGeom prst="rect">
            <a:avLst/>
          </a:prstGeom>
        </p:spPr>
      </p:pic>
      <p:pic>
        <p:nvPicPr>
          <p:cNvPr id="15" name="r1_a1_1" descr="vercel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1800" y="2450592"/>
            <a:ext cx="502920" cy="502920"/>
          </a:xfrm>
          <a:prstGeom prst="rect">
            <a:avLst/>
          </a:prstGeom>
        </p:spPr>
      </p:pic>
      <p:sp>
        <p:nvSpPr>
          <p:cNvPr id="16" name="r1_t1"/>
          <p:cNvSpPr txBox="1"/>
          <p:nvPr/>
        </p:nvSpPr>
        <p:spPr>
          <a:xfrm>
            <a:off x="3611879" y="2359152"/>
            <a:ext cx="256032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Python function on Vercel</a:t>
            </a:r>
          </a:p>
        </p:txBody>
      </p:sp>
      <p:sp>
        <p:nvSpPr>
          <p:cNvPr id="17" name="r2_ar1"/>
          <p:cNvSpPr txBox="1"/>
          <p:nvPr/>
        </p:nvSpPr>
        <p:spPr>
          <a:xfrm>
            <a:off x="6400800" y="2359152"/>
            <a:ext cx="5486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 i="0">
                <a:solidFill>
                  <a:srgbClr val="9FB3CF"/>
                </a:solidFill>
                <a:latin typeface="Calibri"/>
              </a:rPr>
              <a:t>→</a:t>
            </a:r>
          </a:p>
        </p:txBody>
      </p:sp>
      <p:pic>
        <p:nvPicPr>
          <p:cNvPr id="18" name="r2_b1_0" descr="fastapi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2450592"/>
            <a:ext cx="502920" cy="502920"/>
          </a:xfrm>
          <a:prstGeom prst="rect">
            <a:avLst/>
          </a:prstGeom>
        </p:spPr>
      </p:pic>
      <p:pic>
        <p:nvPicPr>
          <p:cNvPr id="19" name="r2_b1_1" descr="dock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0960" y="2450592"/>
            <a:ext cx="502920" cy="502920"/>
          </a:xfrm>
          <a:prstGeom prst="rect">
            <a:avLst/>
          </a:prstGeom>
        </p:spPr>
      </p:pic>
      <p:sp>
        <p:nvSpPr>
          <p:cNvPr id="20" name="r2_u1"/>
          <p:cNvSpPr txBox="1"/>
          <p:nvPr/>
        </p:nvSpPr>
        <p:spPr>
          <a:xfrm>
            <a:off x="8321040" y="2359152"/>
            <a:ext cx="342899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FastAPI service and a job queue</a:t>
            </a:r>
          </a:p>
        </p:txBody>
      </p:sp>
      <p:sp>
        <p:nvSpPr>
          <p:cNvPr id="21" name="r1_l2"/>
          <p:cNvSpPr txBox="1"/>
          <p:nvPr/>
        </p:nvSpPr>
        <p:spPr>
          <a:xfrm>
            <a:off x="548640" y="3118104"/>
            <a:ext cx="1737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AI models</a:t>
            </a:r>
          </a:p>
        </p:txBody>
      </p:sp>
      <p:pic>
        <p:nvPicPr>
          <p:cNvPr id="22" name="r1_a2_0" descr="googlegemin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7440" y="3209544"/>
            <a:ext cx="502920" cy="502920"/>
          </a:xfrm>
          <a:prstGeom prst="rect">
            <a:avLst/>
          </a:prstGeom>
        </p:spPr>
      </p:pic>
      <p:sp>
        <p:nvSpPr>
          <p:cNvPr id="23" name="r1_t2"/>
          <p:cNvSpPr txBox="1"/>
          <p:nvPr/>
        </p:nvSpPr>
        <p:spPr>
          <a:xfrm>
            <a:off x="3017520" y="3118104"/>
            <a:ext cx="3154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Gemini free tier, Groq as backup</a:t>
            </a:r>
          </a:p>
        </p:txBody>
      </p:sp>
      <p:sp>
        <p:nvSpPr>
          <p:cNvPr id="24" name="r2_ar2"/>
          <p:cNvSpPr txBox="1"/>
          <p:nvPr/>
        </p:nvSpPr>
        <p:spPr>
          <a:xfrm>
            <a:off x="6400800" y="3118104"/>
            <a:ext cx="5486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 i="0">
                <a:solidFill>
                  <a:srgbClr val="9FB3CF"/>
                </a:solidFill>
                <a:latin typeface="Calibri"/>
              </a:rPr>
              <a:t>→</a:t>
            </a:r>
          </a:p>
        </p:txBody>
      </p:sp>
      <p:pic>
        <p:nvPicPr>
          <p:cNvPr id="25" name="r2_b2_0" descr="googlegemin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0" y="3209544"/>
            <a:ext cx="502920" cy="502920"/>
          </a:xfrm>
          <a:prstGeom prst="rect">
            <a:avLst/>
          </a:prstGeom>
        </p:spPr>
      </p:pic>
      <p:pic>
        <p:nvPicPr>
          <p:cNvPr id="26" name="r2_b2_1" descr="anthropic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0960" y="3209544"/>
            <a:ext cx="502920" cy="502920"/>
          </a:xfrm>
          <a:prstGeom prst="rect">
            <a:avLst/>
          </a:prstGeom>
        </p:spPr>
      </p:pic>
      <p:sp>
        <p:nvSpPr>
          <p:cNvPr id="27" name="r2_u2"/>
          <p:cNvSpPr txBox="1"/>
          <p:nvPr/>
        </p:nvSpPr>
        <p:spPr>
          <a:xfrm>
            <a:off x="8321040" y="3118104"/>
            <a:ext cx="342899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Paid, no-training terms, two tiers</a:t>
            </a:r>
          </a:p>
        </p:txBody>
      </p:sp>
      <p:sp>
        <p:nvSpPr>
          <p:cNvPr id="28" name="r1_l3"/>
          <p:cNvSpPr txBox="1"/>
          <p:nvPr/>
        </p:nvSpPr>
        <p:spPr>
          <a:xfrm>
            <a:off x="548640" y="3877056"/>
            <a:ext cx="1737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pic>
        <p:nvPicPr>
          <p:cNvPr id="29" name="r1_a3_0" descr="googlechrom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77440" y="3968496"/>
            <a:ext cx="502920" cy="502920"/>
          </a:xfrm>
          <a:prstGeom prst="rect">
            <a:avLst/>
          </a:prstGeom>
        </p:spPr>
      </p:pic>
      <p:sp>
        <p:nvSpPr>
          <p:cNvPr id="30" name="r1_t3"/>
          <p:cNvSpPr txBox="1"/>
          <p:nvPr/>
        </p:nvSpPr>
        <p:spPr>
          <a:xfrm>
            <a:off x="3017520" y="3877056"/>
            <a:ext cx="3154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Browser cache (localStorage)</a:t>
            </a:r>
          </a:p>
        </p:txBody>
      </p:sp>
      <p:sp>
        <p:nvSpPr>
          <p:cNvPr id="31" name="r2_ar3"/>
          <p:cNvSpPr txBox="1"/>
          <p:nvPr/>
        </p:nvSpPr>
        <p:spPr>
          <a:xfrm>
            <a:off x="6400800" y="3877056"/>
            <a:ext cx="5486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 i="0">
                <a:solidFill>
                  <a:srgbClr val="9FB3CF"/>
                </a:solidFill>
                <a:latin typeface="Calibri"/>
              </a:rPr>
              <a:t>→</a:t>
            </a:r>
          </a:p>
        </p:txBody>
      </p:sp>
      <p:pic>
        <p:nvPicPr>
          <p:cNvPr id="32" name="r2_b3_0" descr="postgresq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3968496"/>
            <a:ext cx="502920" cy="502920"/>
          </a:xfrm>
          <a:prstGeom prst="rect">
            <a:avLst/>
          </a:prstGeom>
        </p:spPr>
      </p:pic>
      <p:pic>
        <p:nvPicPr>
          <p:cNvPr id="33" name="r2_b3_1" descr="supabas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80960" y="3968496"/>
            <a:ext cx="502920" cy="502920"/>
          </a:xfrm>
          <a:prstGeom prst="rect">
            <a:avLst/>
          </a:prstGeom>
        </p:spPr>
      </p:pic>
      <p:sp>
        <p:nvSpPr>
          <p:cNvPr id="34" name="r2_u3"/>
          <p:cNvSpPr txBox="1"/>
          <p:nvPr/>
        </p:nvSpPr>
        <p:spPr>
          <a:xfrm>
            <a:off x="8321040" y="3877056"/>
            <a:ext cx="342899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PostgreSQL plus encrypted file store</a:t>
            </a:r>
          </a:p>
        </p:txBody>
      </p:sp>
      <p:sp>
        <p:nvSpPr>
          <p:cNvPr id="35" name="r1_l4"/>
          <p:cNvSpPr txBox="1"/>
          <p:nvPr/>
        </p:nvSpPr>
        <p:spPr>
          <a:xfrm>
            <a:off x="548640" y="4636008"/>
            <a:ext cx="1737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36" name="r1_t4"/>
          <p:cNvSpPr txBox="1"/>
          <p:nvPr/>
        </p:nvSpPr>
        <p:spPr>
          <a:xfrm>
            <a:off x="2423160" y="4636008"/>
            <a:ext cx="37490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Optional access code, rate limit</a:t>
            </a:r>
          </a:p>
        </p:txBody>
      </p:sp>
      <p:sp>
        <p:nvSpPr>
          <p:cNvPr id="37" name="r2_ar4"/>
          <p:cNvSpPr txBox="1"/>
          <p:nvPr/>
        </p:nvSpPr>
        <p:spPr>
          <a:xfrm>
            <a:off x="6400800" y="4636008"/>
            <a:ext cx="5486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 i="0">
                <a:solidFill>
                  <a:srgbClr val="9FB3CF"/>
                </a:solidFill>
                <a:latin typeface="Calibri"/>
              </a:rPr>
              <a:t>→</a:t>
            </a:r>
          </a:p>
        </p:txBody>
      </p:sp>
      <p:pic>
        <p:nvPicPr>
          <p:cNvPr id="38" name="r2_b4_0" descr="auth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6600" y="4727448"/>
            <a:ext cx="502920" cy="502920"/>
          </a:xfrm>
          <a:prstGeom prst="rect">
            <a:avLst/>
          </a:prstGeom>
        </p:spPr>
      </p:pic>
      <p:pic>
        <p:nvPicPr>
          <p:cNvPr id="39" name="r2_b4_1" descr="okt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80960" y="4727448"/>
            <a:ext cx="502920" cy="502920"/>
          </a:xfrm>
          <a:prstGeom prst="rect">
            <a:avLst/>
          </a:prstGeom>
        </p:spPr>
      </p:pic>
      <p:sp>
        <p:nvSpPr>
          <p:cNvPr id="40" name="r2_u4"/>
          <p:cNvSpPr txBox="1"/>
          <p:nvPr/>
        </p:nvSpPr>
        <p:spPr>
          <a:xfrm>
            <a:off x="8321040" y="4636008"/>
            <a:ext cx="3428999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Single sign-on, roles, audit log</a:t>
            </a:r>
          </a:p>
        </p:txBody>
      </p:sp>
      <p:sp>
        <p:nvSpPr>
          <p:cNvPr id="41" name="r1_l5"/>
          <p:cNvSpPr txBox="1"/>
          <p:nvPr/>
        </p:nvSpPr>
        <p:spPr>
          <a:xfrm>
            <a:off x="548640" y="5394960"/>
            <a:ext cx="1737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pic>
        <p:nvPicPr>
          <p:cNvPr id="42" name="r1_a5_0" descr="github_w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77440" y="5486400"/>
            <a:ext cx="502920" cy="502920"/>
          </a:xfrm>
          <a:prstGeom prst="rect">
            <a:avLst/>
          </a:prstGeom>
        </p:spPr>
      </p:pic>
      <p:sp>
        <p:nvSpPr>
          <p:cNvPr id="43" name="r1_t5"/>
          <p:cNvSpPr txBox="1"/>
          <p:nvPr/>
        </p:nvSpPr>
        <p:spPr>
          <a:xfrm>
            <a:off x="3017520" y="5394960"/>
            <a:ext cx="31546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GitHub, 97 offline tests</a:t>
            </a:r>
          </a:p>
        </p:txBody>
      </p:sp>
      <p:sp>
        <p:nvSpPr>
          <p:cNvPr id="44" name="r2_ar5"/>
          <p:cNvSpPr txBox="1"/>
          <p:nvPr/>
        </p:nvSpPr>
        <p:spPr>
          <a:xfrm>
            <a:off x="6400800" y="5394960"/>
            <a:ext cx="5486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000" b="1" i="0">
                <a:solidFill>
                  <a:srgbClr val="9FB3CF"/>
                </a:solidFill>
                <a:latin typeface="Calibri"/>
              </a:rPr>
              <a:t>→</a:t>
            </a:r>
          </a:p>
        </p:txBody>
      </p:sp>
      <p:pic>
        <p:nvPicPr>
          <p:cNvPr id="45" name="r2_b5_0" descr="githubaction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86600" y="5486400"/>
            <a:ext cx="502920" cy="502920"/>
          </a:xfrm>
          <a:prstGeom prst="rect">
            <a:avLst/>
          </a:prstGeom>
        </p:spPr>
      </p:pic>
      <p:sp>
        <p:nvSpPr>
          <p:cNvPr id="46" name="r2_u5"/>
          <p:cNvSpPr txBox="1"/>
          <p:nvPr/>
        </p:nvSpPr>
        <p:spPr>
          <a:xfrm>
            <a:off x="7726680" y="5394960"/>
            <a:ext cx="402336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Automatic eval gate on every change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  <p:bldP spid="9" grpId="0"/>
      <p:bldP spid="12" grpId="0"/>
      <p:bldP spid="13" grpId="0"/>
      <p:bldP spid="16" grpId="0"/>
      <p:bldP spid="17" grpId="0"/>
      <p:bldP spid="20" grpId="0"/>
      <p:bldP spid="21" grpId="0"/>
      <p:bldP spid="23" grpId="0"/>
      <p:bldP spid="24" grpId="0"/>
      <p:bldP spid="27" grpId="0"/>
      <p:bldP spid="28" grpId="0"/>
      <p:bldP spid="30" grpId="0"/>
      <p:bldP spid="31" grpId="0"/>
      <p:bldP spid="34" grpId="0"/>
      <p:bldP spid="35" grpId="0"/>
      <p:bldP spid="36" grpId="0"/>
      <p:bldP spid="37" grpId="0"/>
      <p:bldP spid="40" grpId="0"/>
      <p:bldP spid="41" grpId="0"/>
      <p:bldP spid="43" grpId="0"/>
      <p:bldP spid="44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0" b="1" i="0">
                <a:solidFill>
                  <a:srgbClr val="FFD34E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0" i="0">
                <a:solidFill>
                  <a:srgbClr val="9FB3CF"/>
                </a:solidFill>
                <a:latin typeface="Calibri"/>
              </a:rPr>
              <a:t>Gulf Crown: the $140k promise nobody could find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TRUST, BUT VERIFY  |  EVIDENCE</a:t>
            </a:r>
          </a:p>
        </p:txBody>
      </p:sp>
      <p:sp>
        <p:nvSpPr>
          <p:cNvPr id="3" name="r1"/>
          <p:cNvSpPr/>
          <p:nvPr/>
        </p:nvSpPr>
        <p:spPr>
          <a:xfrm>
            <a:off x="548640" y="1554480"/>
            <a:ext cx="2651760" cy="329184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5400" b="1">
                <a:solidFill>
                  <a:srgbClr val="3DDC97"/>
                </a:solidFill>
                <a:latin typeface="Calibri"/>
              </a:rPr>
              <a:t>24 / 24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known risks found</a:t>
            </a:r>
          </a:p>
        </p:txBody>
      </p:sp>
      <p:sp>
        <p:nvSpPr>
          <p:cNvPr id="4" name="r2"/>
          <p:cNvSpPr/>
          <p:nvPr/>
        </p:nvSpPr>
        <p:spPr>
          <a:xfrm>
            <a:off x="3383280" y="1554480"/>
            <a:ext cx="2651760" cy="329184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5400" b="1">
                <a:solidFill>
                  <a:srgbClr val="3DDC97"/>
                </a:solidFill>
                <a:latin typeface="Calibri"/>
              </a:rPr>
              <a:t>88%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serious findings valid (rated by me)</a:t>
            </a:r>
          </a:p>
        </p:txBody>
      </p:sp>
      <p:sp>
        <p:nvSpPr>
          <p:cNvPr id="5" name="r3"/>
          <p:cNvSpPr/>
          <p:nvPr/>
        </p:nvSpPr>
        <p:spPr>
          <a:xfrm>
            <a:off x="6217920" y="1554480"/>
            <a:ext cx="2651760" cy="329184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5400" b="1">
                <a:solidFill>
                  <a:srgbClr val="3DDC97"/>
                </a:solidFill>
                <a:latin typeface="Calibri"/>
              </a:rPr>
              <a:t>7 / 7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injection attacks stopped</a:t>
            </a:r>
          </a:p>
        </p:txBody>
      </p:sp>
      <p:sp>
        <p:nvSpPr>
          <p:cNvPr id="6" name="r4"/>
          <p:cNvSpPr/>
          <p:nvPr/>
        </p:nvSpPr>
        <p:spPr>
          <a:xfrm>
            <a:off x="9052560" y="1554480"/>
            <a:ext cx="2651760" cy="329184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$0.05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per review, about 20 seconds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THE BUSINESS CASE  |  TODAY → WITH CONTRACTGUARD</a:t>
            </a:r>
          </a:p>
        </p:txBody>
      </p:sp>
      <p:sp>
        <p:nvSpPr>
          <p:cNvPr id="3" name="r1"/>
          <p:cNvSpPr/>
          <p:nvPr/>
        </p:nvSpPr>
        <p:spPr>
          <a:xfrm>
            <a:off x="548640" y="1188720"/>
            <a:ext cx="5486400" cy="210312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25 h → 6 h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reviewer time a month  (76% less)</a:t>
            </a:r>
          </a:p>
        </p:txBody>
      </p:sp>
      <p:sp>
        <p:nvSpPr>
          <p:cNvPr id="4" name="r2"/>
          <p:cNvSpPr/>
          <p:nvPr/>
        </p:nvSpPr>
        <p:spPr>
          <a:xfrm>
            <a:off x="6217920" y="1188720"/>
            <a:ext cx="5486400" cy="210312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$1,924 → $815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monthly cost  (58% less, about $1,100 saved)</a:t>
            </a:r>
          </a:p>
        </p:txBody>
      </p:sp>
      <p:sp>
        <p:nvSpPr>
          <p:cNvPr id="5" name="r3"/>
          <p:cNvSpPr/>
          <p:nvPr/>
        </p:nvSpPr>
        <p:spPr>
          <a:xfrm>
            <a:off x="548640" y="3474720"/>
            <a:ext cx="5486400" cy="210312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2–8 h → &lt;5 min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per contract  (client target: under 5 minutes)</a:t>
            </a:r>
          </a:p>
        </p:txBody>
      </p:sp>
      <p:sp>
        <p:nvSpPr>
          <p:cNvPr id="6" name="r4"/>
          <p:cNvSpPr/>
          <p:nvPr/>
        </p:nvSpPr>
        <p:spPr>
          <a:xfrm>
            <a:off x="6217920" y="3474720"/>
            <a:ext cx="5486400" cy="210312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6000" b="1">
                <a:solidFill>
                  <a:srgbClr val="3DDC97"/>
                </a:solidFill>
                <a:latin typeface="Calibri"/>
              </a:rPr>
              <a:t>$0.05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AI cost per review  ($0.78 a month)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1">
                <a:solidFill>
                  <a:srgbClr val="9FB3CF"/>
                </a:solidFill>
                <a:latin typeface="Calibri"/>
              </a:rPr>
              <a:t>Modelled on assumptions; the pilot measures them.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NORTH STAR AND THE THREE FLOORS</a:t>
            </a:r>
          </a:p>
        </p:txBody>
      </p:sp>
      <p:sp>
        <p:nvSpPr>
          <p:cNvPr id="3" name="r1"/>
          <p:cNvSpPr/>
          <p:nvPr/>
        </p:nvSpPr>
        <p:spPr>
          <a:xfrm>
            <a:off x="731520" y="1097280"/>
            <a:ext cx="10698480" cy="1554480"/>
          </a:xfrm>
          <a:prstGeom prst="roundRect">
            <a:avLst>
              <a:gd name="adj" fmla="val 10000"/>
            </a:avLst>
          </a:prstGeom>
          <a:solidFill>
            <a:srgbClr val="223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4800" b="1">
                <a:solidFill>
                  <a:srgbClr val="3DDC97"/>
                </a:solidFill>
                <a:latin typeface="Calibri"/>
              </a:rPr>
              <a:t>Trusted Review Rate:  90%</a:t>
            </a:r>
          </a:p>
          <a:p>
            <a:pPr algn="ctr"/>
            <a:r>
              <a:rPr sz="2400">
                <a:solidFill>
                  <a:srgbClr val="9FB3CF"/>
                </a:solidFill>
                <a:latin typeface="Calibri"/>
              </a:rPr>
              <a:t>complete  •  verified  •  nothing missed  •  under 5 minutes</a:t>
            </a:r>
          </a:p>
        </p:txBody>
      </p:sp>
      <p:sp>
        <p:nvSpPr>
          <p:cNvPr id="4" name="r4"/>
          <p:cNvSpPr/>
          <p:nvPr/>
        </p:nvSpPr>
        <p:spPr>
          <a:xfrm>
            <a:off x="731520" y="283464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Business:  zero deals lost to the queue  •  25 h → 6 h</a:t>
            </a:r>
          </a:p>
        </p:txBody>
      </p:sp>
      <p:sp>
        <p:nvSpPr>
          <p:cNvPr id="5" name="r3"/>
          <p:cNvSpPr/>
          <p:nvPr/>
        </p:nvSpPr>
        <p:spPr>
          <a:xfrm>
            <a:off x="731520" y="39319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Adoption:  90% of contracts used  •  100% of serious findings answered</a:t>
            </a:r>
          </a:p>
        </p:txBody>
      </p:sp>
      <p:sp>
        <p:nvSpPr>
          <p:cNvPr id="6" name="r2"/>
          <p:cNvSpPr/>
          <p:nvPr/>
        </p:nvSpPr>
        <p:spPr>
          <a:xfrm>
            <a:off x="731520" y="502920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AI quality:  100% recall  •  every quote verified  •  under 5 minutes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SAFETY AND GUARDRAILS</a:t>
            </a:r>
          </a:p>
        </p:txBody>
      </p:sp>
      <p:sp>
        <p:nvSpPr>
          <p:cNvPr id="3" name="r1"/>
          <p:cNvSpPr/>
          <p:nvPr/>
        </p:nvSpPr>
        <p:spPr>
          <a:xfrm>
            <a:off x="731520" y="1097280"/>
            <a:ext cx="3383280" cy="201168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Never signs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no external action exists</a:t>
            </a:r>
          </a:p>
        </p:txBody>
      </p:sp>
      <p:sp>
        <p:nvSpPr>
          <p:cNvPr id="4" name="r2"/>
          <p:cNvSpPr/>
          <p:nvPr/>
        </p:nvSpPr>
        <p:spPr>
          <a:xfrm>
            <a:off x="4389120" y="1097280"/>
            <a:ext cx="3383280" cy="201168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Every quote verified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or "Not sure"</a:t>
            </a:r>
          </a:p>
        </p:txBody>
      </p:sp>
      <p:sp>
        <p:nvSpPr>
          <p:cNvPr id="5" name="r3"/>
          <p:cNvSpPr/>
          <p:nvPr/>
        </p:nvSpPr>
        <p:spPr>
          <a:xfrm>
            <a:off x="8046720" y="1097280"/>
            <a:ext cx="3383280" cy="2011680"/>
          </a:xfrm>
          <a:prstGeom prst="roundRect">
            <a:avLst>
              <a:gd name="adj" fmla="val 10000"/>
            </a:avLst>
          </a:prstGeom>
          <a:solidFill>
            <a:srgbClr val="223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3400" b="1">
                <a:solidFill>
                  <a:srgbClr val="3DDC97"/>
                </a:solidFill>
                <a:latin typeface="Calibri"/>
              </a:rPr>
              <a:t>A person decides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reason for serious risks</a:t>
            </a:r>
          </a:p>
        </p:txBody>
      </p:sp>
      <p:sp>
        <p:nvSpPr>
          <p:cNvPr id="6" name="r4"/>
          <p:cNvSpPr/>
          <p:nvPr/>
        </p:nvSpPr>
        <p:spPr>
          <a:xfrm>
            <a:off x="731520" y="3383280"/>
            <a:ext cx="10698480" cy="1554480"/>
          </a:xfrm>
          <a:prstGeom prst="roundRect">
            <a:avLst>
              <a:gd name="adj" fmla="val 10000"/>
            </a:avLst>
          </a:prstGeom>
          <a:solidFill>
            <a:srgbClr val="FF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Kill switch → back to manual</a:t>
            </a:r>
          </a:p>
          <a:p>
            <a:pPr algn="ctr"/>
            <a:r>
              <a:rPr sz="2600">
                <a:solidFill>
                  <a:srgbClr val="FFFFFF"/>
                </a:solidFill>
                <a:latin typeface="Calibri"/>
              </a:rPr>
              <a:t>if it says "safe to sign", shows an unverified quote, or leaks data</a:t>
            </a:r>
          </a:p>
        </p:txBody>
      </p:sp>
      <p:sp>
        <p:nvSpPr>
          <p:cNvPr id="7" name="r5"/>
          <p:cNvSpPr txBox="1"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0">
                <a:solidFill>
                  <a:srgbClr val="FFA630"/>
                </a:solidFill>
                <a:latin typeface="Calibri"/>
              </a:rPr>
              <a:t>Before real contracts:  privacy (masking, no-training terms)  •  governance (DPDP Act, GDPR)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THE ASK  |  10:47 PM</a:t>
            </a:r>
          </a:p>
        </p:txBody>
      </p:sp>
      <p:sp>
        <p:nvSpPr>
          <p:cNvPr id="3" name="r1"/>
          <p:cNvSpPr txBox="1"/>
          <p:nvPr/>
        </p:nvSpPr>
        <p:spPr>
          <a:xfrm>
            <a:off x="822960" y="1005840"/>
            <a:ext cx="105156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0" b="1" i="0">
                <a:solidFill>
                  <a:srgbClr val="3DDC97"/>
                </a:solidFill>
                <a:latin typeface="Calibri"/>
              </a:rPr>
              <a:t>8-week pilot</a:t>
            </a:r>
          </a:p>
        </p:txBody>
      </p:sp>
      <p:sp>
        <p:nvSpPr>
          <p:cNvPr id="4" name="r2"/>
          <p:cNvSpPr/>
          <p:nvPr/>
        </p:nvSpPr>
        <p:spPr>
          <a:xfrm>
            <a:off x="822960" y="2834640"/>
            <a:ext cx="5029200" cy="128016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Shadow mode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beside the manual review</a:t>
            </a:r>
          </a:p>
        </p:txBody>
      </p:sp>
      <p:sp>
        <p:nvSpPr>
          <p:cNvPr id="5" name="r3"/>
          <p:cNvSpPr/>
          <p:nvPr/>
        </p:nvSpPr>
        <p:spPr>
          <a:xfrm>
            <a:off x="6217920" y="2834640"/>
            <a:ext cx="5029200" cy="128016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Closed beta</a:t>
            </a:r>
          </a:p>
          <a:p>
            <a:pPr algn="ctr"/>
            <a:r>
              <a:rPr sz="2200">
                <a:solidFill>
                  <a:srgbClr val="9FB3CF"/>
                </a:solidFill>
                <a:latin typeface="Calibri"/>
              </a:rPr>
              <a:t>Karandeep and Dhaval</a:t>
            </a:r>
          </a:p>
        </p:txBody>
      </p:sp>
      <p:sp>
        <p:nvSpPr>
          <p:cNvPr id="6" name="r4"/>
          <p:cNvSpPr/>
          <p:nvPr/>
        </p:nvSpPr>
        <p:spPr>
          <a:xfrm>
            <a:off x="822960" y="4389120"/>
            <a:ext cx="10424160" cy="100584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Needs:  principles confirmed  •  one register reviewer  •  a few live contracts</a:t>
            </a:r>
          </a:p>
        </p:txBody>
      </p:sp>
      <p:sp>
        <p:nvSpPr>
          <p:cNvPr id="7" name="r5"/>
          <p:cNvSpPr txBox="1"/>
          <p:nvPr/>
        </p:nvSpPr>
        <p:spPr>
          <a:xfrm>
            <a:off x="822960" y="5669280"/>
            <a:ext cx="104241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 i="0">
                <a:solidFill>
                  <a:srgbClr val="5BA8FF"/>
                </a:solidFill>
                <a:latin typeface="Calibri"/>
              </a:rPr>
              <a:t>"Five minutes, not an evening. And I still decide."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4000" b="0" i="0">
                <a:solidFill>
                  <a:srgbClr val="9FB3C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94560"/>
            <a:ext cx="100584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058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0" i="0">
                <a:solidFill>
                  <a:srgbClr val="9FB3CF"/>
                </a:solidFill>
                <a:latin typeface="Calibri"/>
              </a:rPr>
              <a:t>Guardrails  •  Responsible AI  •  Evals  •  Moat  •  Cost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APPENDIX  | 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Guardrails sit before the model, after it, and around the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2103120" cy="155448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Contract and notes</a:t>
            </a:r>
          </a:p>
          <a:p>
            <a:pPr algn="ctr"/>
            <a:r>
              <a:rPr sz="1300">
                <a:solidFill>
                  <a:srgbClr val="9FB3CF"/>
                </a:solidFill>
                <a:latin typeface="Calibri"/>
              </a:rPr>
              <a:t>untrusted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737360"/>
            <a:ext cx="2103120" cy="155448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Input guardrail</a:t>
            </a:r>
          </a:p>
          <a:p>
            <a:pPr algn="ctr"/>
            <a:r>
              <a:rPr sz="1300">
                <a:solidFill>
                  <a:srgbClr val="9FB3CF"/>
                </a:solidFill>
                <a:latin typeface="Calibri"/>
              </a:rPr>
              <a:t>screen hidden instructions; size and rate limits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737360"/>
            <a:ext cx="2103120" cy="155448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AI model</a:t>
            </a:r>
          </a:p>
          <a:p>
            <a:pPr algn="ctr"/>
            <a:r>
              <a:rPr sz="1300">
                <a:solidFill>
                  <a:srgbClr val="9FB3CF"/>
                </a:solidFill>
                <a:latin typeface="Calibri"/>
              </a:rPr>
              <a:t>reads and proposes; no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737360"/>
            <a:ext cx="2103120" cy="155448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Output guardrail</a:t>
            </a:r>
          </a:p>
          <a:p>
            <a:pPr algn="ctr"/>
            <a:r>
              <a:rPr sz="1300">
                <a:solidFill>
                  <a:srgbClr val="9FB3CF"/>
                </a:solidFill>
                <a:latin typeface="Calibri"/>
              </a:rPr>
              <a:t>quote verified; no "safe to sign"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737360"/>
            <a:ext cx="2103120" cy="1554480"/>
          </a:xfrm>
          <a:prstGeom prst="roundRect">
            <a:avLst>
              <a:gd name="adj" fmla="val 10000"/>
            </a:avLst>
          </a:prstGeom>
          <a:solidFill>
            <a:srgbClr val="223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800" b="1">
                <a:solidFill>
                  <a:srgbClr val="3DDC97"/>
                </a:solidFill>
                <a:latin typeface="Calibri"/>
              </a:rPr>
              <a:t>A person</a:t>
            </a:r>
          </a:p>
          <a:p>
            <a:pPr algn="ctr"/>
            <a:r>
              <a:rPr sz="1300">
                <a:solidFill>
                  <a:srgbClr val="9FB3CF"/>
                </a:solidFill>
                <a:latin typeface="Calibri"/>
              </a:rPr>
              <a:t>accepts with a reason, or defers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566160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Hard rule, enforced in code</a:t>
                      </a:r>
                    </a:p>
                  </a:txBody>
                  <a:tcPr marL="73152" marR="73152" anchor="ctr">
                    <a:solidFill>
                      <a:srgbClr val="223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73152" marR="73152" anchor="ctr">
                    <a:solidFill>
                      <a:srgbClr val="223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Tested by</a:t>
                      </a:r>
                    </a:p>
                  </a:txBody>
                  <a:tcPr marL="73152" marR="73152" anchor="ctr">
                    <a:solidFill>
                      <a:srgbClr val="223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Never signs, sends or approves (GR-01)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No external action exists in the code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Design; 97 offline tests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Every finding has a verified quote (GR-02)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String match, else "Not sure, please cross-check"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Unit tests; 0 unverified quotes shown as fact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Never says "safe to sign" or "no conflict" (GR-03)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Claim filter removes the wording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Defence tests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Serious risk needs a reason; open ones block signing (GR-05, GR-11)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Buttons disabled until answered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Browser test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Prompt injection and abuse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Regex screen, hardened prompt, same-origin, rate limit, daily budget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Red team: 7 of 7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APPENDIX  | 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Four pre-launch checks a regulator would ask about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51760" cy="27432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Privacy</a:t>
            </a:r>
          </a:p>
          <a:p>
            <a:pPr algn="ctr"/>
            <a:r>
              <a:rPr sz="1600">
                <a:solidFill>
                  <a:srgbClr val="9FB3CF"/>
                </a:solidFill>
                <a:latin typeface="Calibri"/>
              </a:rPr>
              <a:t>Mask identifiers; no-training, zero-retention terms; data in AtliQ's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2651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A630"/>
                </a:solidFill>
                <a:latin typeface="Calibri"/>
              </a:rPr>
              <a:t>Before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64992" y="1737360"/>
            <a:ext cx="2651760" cy="27432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Governance</a:t>
            </a:r>
          </a:p>
          <a:p>
            <a:pPr algn="ctr"/>
            <a:r>
              <a:rPr sz="1600">
                <a:solidFill>
                  <a:srgbClr val="9FB3CF"/>
                </a:solidFill>
                <a:latin typeface="Calibri"/>
              </a:rPr>
              <a:t>DPDP Act (India entity); GDPR for EU data; contract confidentiality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4992" y="4572000"/>
            <a:ext cx="2651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A630"/>
                </a:solidFill>
                <a:latin typeface="Calibri"/>
              </a:rPr>
              <a:t>Before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737360"/>
            <a:ext cx="2651760" cy="27432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Consent</a:t>
            </a:r>
          </a:p>
          <a:p>
            <a:pPr algn="ctr"/>
            <a:r>
              <a:rPr sz="1600">
                <a:solidFill>
                  <a:srgbClr val="9FB3CF"/>
                </a:solidFill>
                <a:latin typeface="Calibri"/>
              </a:rPr>
              <a:t>Users know AI is used; nothing is sent to a client or counsel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4572000"/>
            <a:ext cx="2651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3DDC97"/>
                </a:solidFill>
                <a:latin typeface="Calibri"/>
              </a:rPr>
              <a:t>Built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7696" y="1737360"/>
            <a:ext cx="2651760" cy="27432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Human in the loop</a:t>
            </a:r>
          </a:p>
          <a:p>
            <a:pPr algn="ctr"/>
            <a:r>
              <a:rPr sz="1600">
                <a:solidFill>
                  <a:srgbClr val="9FB3CF"/>
                </a:solidFill>
                <a:latin typeface="Calibri"/>
              </a:rPr>
              <a:t>A person decides and is accountable; every reason logged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7696" y="4572000"/>
            <a:ext cx="2651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3DDC97"/>
                </a:solidFill>
                <a:latin typeface="Calibri"/>
              </a:rPr>
              <a:t>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F5A4F"/>
                </a:solidFill>
                <a:latin typeface="Calibri"/>
              </a:rPr>
              <a:t>Kill switch: back to manual at once if the tool says "safe to sign", shows an unverifiable quote, or exposes data.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APPENDIX  |  EVALS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Evals: the ground-floor metrics against targets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AI metric</a:t>
                      </a:r>
                    </a:p>
                  </a:txBody>
                  <a:tcPr marL="73152" marR="73152" anchor="ctr">
                    <a:solidFill>
                      <a:srgbClr val="223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How it is measured</a:t>
                      </a:r>
                    </a:p>
                  </a:txBody>
                  <a:tcPr marL="73152" marR="73152" anchor="ctr">
                    <a:solidFill>
                      <a:srgbClr val="223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anchor="ctr">
                    <a:solidFill>
                      <a:srgbClr val="223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anchor="ctr">
                    <a:solidFill>
                      <a:srgbClr val="223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Recall of must-catch risks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Gold set: 24 risks across 15 real drafts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24 of 24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Precision of Serious findings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67 findings labelled valid / routine / wrong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88% valid, 0 wrong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at least 60%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Hallucination rate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Findings whose quote is not in the contract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0 shown as fact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Groundedness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Each finding quote string-matched to the source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100% by construction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Upload to review, per contract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under 20 s typical; 35 to 85 s on a slow day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P95 under 5 min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Token cost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Tokens in and out per review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about $0.05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does not choose the model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Model drift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Pinned versions; gold set re-run before any change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process defined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6EDF8"/>
                          </a:solidFill>
                          <a:latin typeface="Calibri"/>
                        </a:rPr>
                        <a:t>no release on a drop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APPENDIX  |  EVALS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we evaluate: golden dataset, red team, gate, honest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329184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Golden dataset</a:t>
            </a:r>
          </a:p>
          <a:p>
            <a:pPr algn="ctr"/>
            <a:r>
              <a:rPr sz="1700">
                <a:solidFill>
                  <a:srgbClr val="9FB3CF"/>
                </a:solidFill>
                <a:latin typeface="Calibri"/>
              </a:rPr>
              <a:t>24 risks in 15 real drafts; 11 synthetic contracts with answer key; 14 register entries; 2 clean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737360"/>
            <a:ext cx="3566160" cy="329184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Tests and gates</a:t>
            </a:r>
          </a:p>
          <a:p>
            <a:pPr algn="ctr"/>
            <a:r>
              <a:rPr sz="1700">
                <a:solidFill>
                  <a:srgbClr val="9FB3CF"/>
                </a:solidFill>
                <a:latin typeface="Calibri"/>
              </a:rPr>
              <a:t>97 offline tests; 7 red-team attacks; extractor 86 to 93%; regression run before any 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566160" cy="329184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400" b="1">
                <a:solidFill>
                  <a:srgbClr val="FFA630"/>
                </a:solidFill>
                <a:latin typeface="Calibri"/>
              </a:rPr>
              <a:t>Not proven</a:t>
            </a:r>
          </a:p>
          <a:p>
            <a:pPr algn="ctr"/>
            <a:r>
              <a:rPr sz="1700">
                <a:solidFill>
                  <a:srgbClr val="9FB3CF"/>
                </a:solidFill>
                <a:latin typeface="Calibri"/>
              </a:rPr>
              <a:t>Labels are mine; severity cut-offs are defaults; time saved is modelled; no real contracts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 i="1">
                <a:solidFill>
                  <a:srgbClr val="9FB3CF"/>
                </a:solidFill>
                <a:latin typeface="Calibri"/>
              </a:rPr>
              <a:t>Karandeep to confirm the labels; the pilot adds the first independent measurement.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APPENDIX  | 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Moat: the model is rented; the memory is 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51760" cy="301752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600" b="1">
                <a:solidFill>
                  <a:srgbClr val="3DDC97"/>
                </a:solidFill>
                <a:latin typeface="Calibri"/>
              </a:rPr>
              <a:t>Data</a:t>
            </a:r>
          </a:p>
          <a:p>
            <a:pPr algn="ctr"/>
            <a:r>
              <a:rPr sz="1700">
                <a:solidFill>
                  <a:srgbClr val="9FB3CF"/>
                </a:solidFill>
                <a:latin typeface="Calibri"/>
              </a:rPr>
              <a:t>Confirmed register of AtliQ's promises grows with every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2" y="1737360"/>
            <a:ext cx="2651760" cy="301752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Workflow</a:t>
            </a:r>
          </a:p>
          <a:p>
            <a:pPr algn="ctr"/>
            <a:r>
              <a:rPr sz="1700">
                <a:solidFill>
                  <a:srgbClr val="9FB3CF"/>
                </a:solidFill>
                <a:latin typeface="Calibri"/>
              </a:rPr>
              <a:t>Principles, decisions and audit log live in one 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737360"/>
            <a:ext cx="2651760" cy="301752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Trust</a:t>
            </a:r>
          </a:p>
          <a:p>
            <a:pPr algn="ctr"/>
            <a:r>
              <a:rPr sz="1700">
                <a:solidFill>
                  <a:srgbClr val="9FB3CF"/>
                </a:solidFill>
                <a:latin typeface="Calibri"/>
              </a:rPr>
              <a:t>Verified quotes; a person decides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97696" y="1737360"/>
            <a:ext cx="2651760" cy="301752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Model swap</a:t>
            </a:r>
          </a:p>
          <a:p>
            <a:pPr algn="ctr"/>
            <a:r>
              <a:rPr sz="1700">
                <a:solidFill>
                  <a:srgbClr val="9FB3CF"/>
                </a:solidFill>
                <a:latin typeface="Calibri"/>
              </a:rPr>
              <a:t>Gemini, Groq or Claude in a day; the model is not the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 i="0">
                <a:solidFill>
                  <a:srgbClr val="9FB3CF"/>
                </a:solidFill>
                <a:latin typeface="Calibri"/>
              </a:rPr>
              <a:t>Competitors (LegalOn, Ironclad, Robin AI) review a document against a playbook. Our wedge: the conflict check against AtliQ's own past promises. Honest limit: the moat is thin until the register has depth.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9FB3CF"/>
                </a:solidFill>
                <a:latin typeface="Calibri"/>
              </a:rPr>
              <a:t>APPENDIX  |  COST AND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Cost and scale: pennies of AI per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$0.05</a:t>
            </a:r>
          </a:p>
          <a:p>
            <a:pPr algn="ctr"/>
            <a:r>
              <a:rPr sz="1600">
                <a:solidFill>
                  <a:srgbClr val="9FB3CF"/>
                </a:solidFill>
                <a:latin typeface="Calibri"/>
              </a:rPr>
              <a:t>per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2" y="173736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$0.78</a:t>
            </a:r>
          </a:p>
          <a:p>
            <a:pPr algn="ctr"/>
            <a:r>
              <a:rPr sz="1600">
                <a:solidFill>
                  <a:srgbClr val="9FB3CF"/>
                </a:solidFill>
                <a:latin typeface="Calibri"/>
              </a:rPr>
              <a:t>a month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73736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~$1,100</a:t>
            </a:r>
          </a:p>
          <a:p>
            <a:pPr algn="ctr"/>
            <a:r>
              <a:rPr sz="1600">
                <a:solidFill>
                  <a:srgbClr val="9FB3CF"/>
                </a:solidFill>
                <a:latin typeface="Calibri"/>
              </a:rPr>
              <a:t>saved a month (assumed)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97696" y="173736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1A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~$5</a:t>
            </a:r>
          </a:p>
          <a:p>
            <a:pPr algn="ctr"/>
            <a:r>
              <a:rPr sz="1600">
                <a:solidFill>
                  <a:srgbClr val="9FB3CF"/>
                </a:solidFill>
                <a:latin typeface="Calibri"/>
              </a:rPr>
              <a:t>10x volume, model fees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840480"/>
          <a:ext cx="110642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73152" marR="73152" anchor="ctr">
                    <a:solidFill>
                      <a:srgbClr val="223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73152" marR="73152" anchor="ctr">
                    <a:solidFill>
                      <a:srgbClr val="223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6EDF8"/>
                          </a:solidFill>
                          <a:latin typeface="Calibri"/>
                        </a:rPr>
                        <a:t>Cheapest approach that works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6EDF8"/>
                          </a:solidFill>
                          <a:latin typeface="Calibri"/>
                        </a:rPr>
                        <a:t>Code for exact checks (free); a light model reads; a stronger one judges only where needed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6EDF8"/>
                          </a:solidFill>
                          <a:latin typeface="Calibri"/>
                        </a:rPr>
                        <a:t>Token usage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6EDF8"/>
                          </a:solidFill>
                          <a:latin typeface="Calibri"/>
                        </a:rPr>
                        <a:t>Clauses in batches; short principles and register summary; cache what repeats</a:t>
                      </a:r>
                    </a:p>
                  </a:txBody>
                  <a:tcPr marL="73152" marR="73152" anchor="ctr">
                    <a:solidFill>
                      <a:srgbClr val="0F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6EDF8"/>
                          </a:solidFill>
                          <a:latin typeface="Calibri"/>
                        </a:rPr>
                        <a:t>What would change the answer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6EDF8"/>
                          </a:solidFill>
                          <a:latin typeface="Calibri"/>
                        </a:rPr>
                        <a:t>Contracts over 40 pages or over 60 documents a month: re-model first</a:t>
                      </a:r>
                    </a:p>
                  </a:txBody>
                  <a:tcPr marL="73152" marR="73152" anchor="ctr">
                    <a:solidFill>
                      <a:srgbClr val="1A2B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3746</Words>
  <Application>Microsoft Office PowerPoint</Application>
  <PresentationFormat>Widescreen</PresentationFormat>
  <Paragraphs>294</Paragraphs>
  <Slides>19</Slides>
  <Notes>19</Notes>
  <HiddenSlides>7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Ishan Prasanna Kamthekar</cp:lastModifiedBy>
  <cp:revision>2</cp:revision>
  <dcterms:created xsi:type="dcterms:W3CDTF">2013-01-27T09:14:16Z</dcterms:created>
  <dcterms:modified xsi:type="dcterms:W3CDTF">2026-10-18T04:26:09Z</dcterms:modified>
  <cp:category/>
</cp:coreProperties>
</file>