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5"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79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8864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lang="en-US" dirty="0"/>
              <a:t>3</a:t>
            </a:r>
            <a:r>
              <a:rPr dirty="0"/>
              <a:t>0 s]  CLICK CUES:</a:t>
            </a:r>
          </a:p>
          <a:p>
            <a:r>
              <a:rPr dirty="0"/>
              <a:t>CLICK 1 (question): Peter: "Karandeep, is this really just slow reading, or something else?"</a:t>
            </a:r>
            <a:r>
              <a:rPr lang="en-US" dirty="0"/>
              <a:t> to find out 5 why analysis was conducted </a:t>
            </a:r>
            <a:endParaRPr dirty="0"/>
          </a:p>
          <a:p>
            <a:r>
              <a:rPr dirty="0"/>
              <a:t>CLICKS 2 to 6 (the chain, left to right): "A five-whys analysis says no. Risky deals get signed because Karandeep reads alone. He reads alone because only he has the context. The context is past promises, old negotiations and call terms, and those are stored nowhere. And that is because </a:t>
            </a:r>
            <a:r>
              <a:rPr dirty="0" err="1"/>
              <a:t>AtliQ's</a:t>
            </a:r>
            <a:r>
              <a:rPr dirty="0"/>
              <a:t> process ends at signature."</a:t>
            </a:r>
          </a:p>
          <a:p>
            <a:r>
              <a:rPr dirty="0"/>
              <a:t>CLICK 7 (conclusion): "A faster reader would not have saved Gulf Crown. The promise lives in a different contract. It is missing memory, not slow reading."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5.xml"/><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822960" y="1737360"/>
            <a:ext cx="7315200" cy="1097280"/>
          </a:xfrm>
          <a:prstGeom prst="rect">
            <a:avLst/>
          </a:prstGeom>
          <a:noFill/>
        </p:spPr>
        <p:txBody>
          <a:bodyPr wrap="square" lIns="45720" rIns="45720" anchor="t">
            <a:spAutoFit/>
          </a:bodyPr>
          <a:lstStyle/>
          <a:p>
            <a:pPr algn="l"/>
            <a:r>
              <a:rPr sz="8000" b="1" i="0">
                <a:solidFill>
                  <a:srgbClr val="FFFFFF"/>
                </a:solidFill>
                <a:latin typeface="Calibri"/>
              </a:rPr>
              <a:t>ContractGuard</a:t>
            </a:r>
          </a:p>
        </p:txBody>
      </p:sp>
      <p:sp>
        <p:nvSpPr>
          <p:cNvPr id="3" name="TextBox 2"/>
          <p:cNvSpPr txBox="1"/>
          <p:nvPr/>
        </p:nvSpPr>
        <p:spPr>
          <a:xfrm>
            <a:off x="822960" y="3108960"/>
            <a:ext cx="6583680" cy="1371600"/>
          </a:xfrm>
          <a:prstGeom prst="rect">
            <a:avLst/>
          </a:prstGeom>
          <a:noFill/>
        </p:spPr>
        <p:txBody>
          <a:bodyPr wrap="square" lIns="45720" rIns="45720" anchor="t">
            <a:spAutoFit/>
          </a:bodyPr>
          <a:lstStyle/>
          <a:p>
            <a:pPr algn="l"/>
            <a:r>
              <a:rPr sz="3200" b="0" i="0">
                <a:solidFill>
                  <a:srgbClr val="5BA8FF"/>
                </a:solidFill>
                <a:latin typeface="Calibri"/>
              </a:rPr>
              <a:t>The night Karandeep stopped reviewing alone</a:t>
            </a:r>
          </a:p>
        </p:txBody>
      </p:sp>
      <p:pic>
        <p:nvPicPr>
          <p:cNvPr id="4" name="Picture 3" descr="av_k_neutral.png"/>
          <p:cNvPicPr>
            <a:picLocks noChangeAspect="1"/>
          </p:cNvPicPr>
          <p:nvPr/>
        </p:nvPicPr>
        <p:blipFill>
          <a:blip r:embed="rId3"/>
          <a:stretch>
            <a:fillRect/>
          </a:stretch>
        </p:blipFill>
        <p:spPr>
          <a:xfrm>
            <a:off x="8229600" y="1554480"/>
            <a:ext cx="1920240" cy="1920240"/>
          </a:xfrm>
          <a:prstGeom prst="rect">
            <a:avLst/>
          </a:prstGeom>
        </p:spPr>
      </p:pic>
      <p:pic>
        <p:nvPicPr>
          <p:cNvPr id="5" name="Picture 4" descr="av_p_confident.png"/>
          <p:cNvPicPr>
            <a:picLocks noChangeAspect="1"/>
          </p:cNvPicPr>
          <p:nvPr/>
        </p:nvPicPr>
        <p:blipFill>
          <a:blip r:embed="rId4"/>
          <a:stretch>
            <a:fillRect/>
          </a:stretch>
        </p:blipFill>
        <p:spPr>
          <a:xfrm>
            <a:off x="10241280" y="1554480"/>
            <a:ext cx="1920240" cy="1920240"/>
          </a:xfrm>
          <a:prstGeom prst="rect">
            <a:avLst/>
          </a:prstGeom>
        </p:spPr>
      </p:pic>
      <p:sp>
        <p:nvSpPr>
          <p:cNvPr id="6" name="TextBox 5"/>
          <p:cNvSpPr txBox="1"/>
          <p:nvPr/>
        </p:nvSpPr>
        <p:spPr>
          <a:xfrm>
            <a:off x="822960" y="5760720"/>
            <a:ext cx="7315200" cy="365760"/>
          </a:xfrm>
          <a:prstGeom prst="rect">
            <a:avLst/>
          </a:prstGeom>
          <a:noFill/>
        </p:spPr>
        <p:txBody>
          <a:bodyPr wrap="square" lIns="45720" rIns="45720" anchor="t">
            <a:spAutoFit/>
          </a:bodyPr>
          <a:lstStyle/>
          <a:p>
            <a:pPr algn="l"/>
            <a:r>
              <a:rPr sz="1600" b="0" i="0">
                <a:solidFill>
                  <a:srgbClr val="9FB3CF"/>
                </a:solidFill>
                <a:latin typeface="Calibri"/>
              </a:rPr>
              <a:t>Prasanna Kamthekar  |  AI PM capstone</a:t>
            </a:r>
          </a:p>
        </p:txBody>
      </p:sp>
      <p:sp>
        <p:nvSpPr>
          <p:cNvPr id="9" name="TextBox 8">
            <a:extLst>
              <a:ext uri="{FF2B5EF4-FFF2-40B4-BE49-F238E27FC236}">
                <a16:creationId xmlns:a16="http://schemas.microsoft.com/office/drawing/2014/main" id="{4CC5E0CE-8E93-DD9D-8018-6A7F94CC64E3}"/>
              </a:ext>
            </a:extLst>
          </p:cNvPr>
          <p:cNvSpPr txBox="1"/>
          <p:nvPr/>
        </p:nvSpPr>
        <p:spPr>
          <a:xfrm>
            <a:off x="9906000" y="3794760"/>
            <a:ext cx="2286000" cy="486287"/>
          </a:xfrm>
          <a:prstGeom prst="rect">
            <a:avLst/>
          </a:prstGeom>
          <a:noFill/>
        </p:spPr>
        <p:txBody>
          <a:bodyPr wrap="square" lIns="45720" tIns="27432" rIns="45720" bIns="27432" anchor="t">
            <a:spAutoFit/>
          </a:bodyPr>
          <a:lstStyle/>
          <a:p>
            <a:pPr algn="ctr"/>
            <a:r>
              <a:rPr sz="1400" b="1" i="0" dirty="0">
                <a:solidFill>
                  <a:srgbClr val="FFFFFF"/>
                </a:solidFill>
                <a:latin typeface="Calibri"/>
              </a:rPr>
              <a:t>Peter Deshpande
AI Product Manager</a:t>
            </a:r>
            <a:r>
              <a:rPr lang="en-US" sz="1400" b="1" i="0" dirty="0">
                <a:solidFill>
                  <a:srgbClr val="FFFFFF"/>
                </a:solidFill>
                <a:latin typeface="Calibri"/>
              </a:rPr>
              <a:t> </a:t>
            </a:r>
            <a:r>
              <a:rPr lang="en-US" sz="1100" b="1" i="0" dirty="0">
                <a:solidFill>
                  <a:srgbClr val="FFFFFF"/>
                </a:solidFill>
                <a:latin typeface="Calibri"/>
              </a:rPr>
              <a:t>( Fictional)</a:t>
            </a:r>
            <a:endParaRPr sz="1400" b="1" i="0" dirty="0">
              <a:solidFill>
                <a:srgbClr val="FFFFFF"/>
              </a:solidFill>
              <a:latin typeface="Calibri"/>
            </a:endParaRPr>
          </a:p>
        </p:txBody>
      </p:sp>
      <p:sp>
        <p:nvSpPr>
          <p:cNvPr id="11" name="TextBox 10">
            <a:extLst>
              <a:ext uri="{FF2B5EF4-FFF2-40B4-BE49-F238E27FC236}">
                <a16:creationId xmlns:a16="http://schemas.microsoft.com/office/drawing/2014/main" id="{BEAA5DDD-983B-55AB-0181-DC9710C5D320}"/>
              </a:ext>
            </a:extLst>
          </p:cNvPr>
          <p:cNvSpPr txBox="1"/>
          <p:nvPr/>
        </p:nvSpPr>
        <p:spPr>
          <a:xfrm>
            <a:off x="8046720" y="3794760"/>
            <a:ext cx="2286000" cy="548640"/>
          </a:xfrm>
          <a:prstGeom prst="rect">
            <a:avLst/>
          </a:prstGeom>
          <a:noFill/>
        </p:spPr>
        <p:txBody>
          <a:bodyPr wrap="square" lIns="45720" tIns="27432" rIns="45720" bIns="27432" anchor="t">
            <a:spAutoFit/>
          </a:bodyPr>
          <a:lstStyle/>
          <a:p>
            <a:pPr algn="ctr"/>
            <a:r>
              <a:rPr sz="1400" b="1" i="0" dirty="0">
                <a:solidFill>
                  <a:srgbClr val="FFFFFF"/>
                </a:solidFill>
                <a:latin typeface="Calibri"/>
              </a:rPr>
              <a:t>Karandeep
CEO, AtliQ</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10:42 PM  |  THE PROBLEM (BASELINE)</a:t>
            </a:r>
          </a:p>
        </p:txBody>
      </p:sp>
      <p:pic>
        <p:nvPicPr>
          <p:cNvPr id="3" name="Picture 2" descr="av_k_frustrated.png"/>
          <p:cNvPicPr>
            <a:picLocks noChangeAspect="1"/>
          </p:cNvPicPr>
          <p:nvPr/>
        </p:nvPicPr>
        <p:blipFill>
          <a:blip r:embed="rId3"/>
          <a:stretch>
            <a:fillRect/>
          </a:stretch>
        </p:blipFill>
        <p:spPr>
          <a:xfrm>
            <a:off x="822960" y="1188720"/>
            <a:ext cx="2651760" cy="2651760"/>
          </a:xfrm>
          <a:prstGeom prst="rect">
            <a:avLst/>
          </a:prstGeom>
        </p:spPr>
      </p:pic>
      <p:sp>
        <p:nvSpPr>
          <p:cNvPr id="4" name="r1"/>
          <p:cNvSpPr txBox="1"/>
          <p:nvPr/>
        </p:nvSpPr>
        <p:spPr>
          <a:xfrm>
            <a:off x="548640" y="4023360"/>
            <a:ext cx="4206240" cy="1463040"/>
          </a:xfrm>
          <a:prstGeom prst="rect">
            <a:avLst/>
          </a:prstGeom>
          <a:noFill/>
        </p:spPr>
        <p:txBody>
          <a:bodyPr wrap="square" lIns="45720" rIns="45720" anchor="t">
            <a:spAutoFit/>
          </a:bodyPr>
          <a:lstStyle/>
          <a:p>
            <a:pPr algn="l"/>
            <a:r>
              <a:rPr sz="2600" b="0" i="1">
                <a:solidFill>
                  <a:srgbClr val="FFFFFF"/>
                </a:solidFill>
                <a:latin typeface="Calibri"/>
              </a:rPr>
              <a:t>"The only system I have is my memory."</a:t>
            </a:r>
          </a:p>
        </p:txBody>
      </p:sp>
      <p:sp>
        <p:nvSpPr>
          <p:cNvPr id="5" name="r2"/>
          <p:cNvSpPr/>
          <p:nvPr/>
        </p:nvSpPr>
        <p:spPr>
          <a:xfrm>
            <a:off x="5029200" y="1188720"/>
            <a:ext cx="3291840" cy="219456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6000" b="1">
                <a:solidFill>
                  <a:srgbClr val="FFFFFF"/>
                </a:solidFill>
                <a:latin typeface="Calibri"/>
              </a:rPr>
              <a:t>2–8 h</a:t>
            </a:r>
          </a:p>
          <a:p>
            <a:pPr algn="ctr"/>
            <a:r>
              <a:rPr sz="2200">
                <a:solidFill>
                  <a:srgbClr val="9FB3CF"/>
                </a:solidFill>
                <a:latin typeface="Calibri"/>
              </a:rPr>
              <a:t>to review one contract</a:t>
            </a:r>
          </a:p>
        </p:txBody>
      </p:sp>
      <p:sp>
        <p:nvSpPr>
          <p:cNvPr id="6" name="r3"/>
          <p:cNvSpPr/>
          <p:nvPr/>
        </p:nvSpPr>
        <p:spPr>
          <a:xfrm>
            <a:off x="8503920" y="1188720"/>
            <a:ext cx="3291840" cy="219456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6000" b="1">
                <a:solidFill>
                  <a:srgbClr val="FFFFFF"/>
                </a:solidFill>
                <a:latin typeface="Calibri"/>
              </a:rPr>
              <a:t>1–4 wks</a:t>
            </a:r>
          </a:p>
          <a:p>
            <a:pPr algn="ctr"/>
            <a:r>
              <a:rPr sz="2200">
                <a:solidFill>
                  <a:srgbClr val="9FB3CF"/>
                </a:solidFill>
                <a:latin typeface="Calibri"/>
              </a:rPr>
              <a:t>in his queue</a:t>
            </a:r>
          </a:p>
        </p:txBody>
      </p:sp>
      <p:sp>
        <p:nvSpPr>
          <p:cNvPr id="7" name="r4"/>
          <p:cNvSpPr/>
          <p:nvPr/>
        </p:nvSpPr>
        <p:spPr>
          <a:xfrm>
            <a:off x="5029200" y="3566160"/>
            <a:ext cx="3291840" cy="219456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6000" b="1">
                <a:solidFill>
                  <a:srgbClr val="FF5A4F"/>
                </a:solidFill>
                <a:latin typeface="Calibri"/>
              </a:rPr>
              <a:t>$23.2k</a:t>
            </a:r>
          </a:p>
          <a:p>
            <a:pPr algn="ctr"/>
            <a:r>
              <a:rPr sz="2200">
                <a:solidFill>
                  <a:srgbClr val="9FB3CF"/>
                </a:solidFill>
                <a:latin typeface="Calibri"/>
              </a:rPr>
              <a:t>lost to one rushed signature</a:t>
            </a:r>
          </a:p>
        </p:txBody>
      </p:sp>
      <p:sp>
        <p:nvSpPr>
          <p:cNvPr id="8" name="r5"/>
          <p:cNvSpPr/>
          <p:nvPr/>
        </p:nvSpPr>
        <p:spPr>
          <a:xfrm>
            <a:off x="8503920" y="3566160"/>
            <a:ext cx="3291840" cy="219456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6000" b="1">
                <a:solidFill>
                  <a:srgbClr val="FFA630"/>
                </a:solidFill>
                <a:latin typeface="Calibri"/>
              </a:rPr>
              <a:t>$140k</a:t>
            </a:r>
          </a:p>
          <a:p>
            <a:pPr algn="ctr"/>
            <a:r>
              <a:rPr sz="2200">
                <a:solidFill>
                  <a:srgbClr val="9FB3CF"/>
                </a:solidFill>
                <a:latin typeface="Calibri"/>
              </a:rPr>
              <a:t>deal stuck on a promise nobody can find</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9FB3CF"/>
                </a:solidFill>
                <a:effectLst/>
                <a:uLnTx/>
                <a:uFillTx/>
                <a:latin typeface="Calibri"/>
                <a:ea typeface="+mn-ea"/>
                <a:cs typeface="+mn-cs"/>
              </a:rPr>
              <a:t>SCENE 2  |  PETER ASKS WHY</a:t>
            </a:r>
          </a:p>
        </p:txBody>
      </p:sp>
      <p:sp>
        <p:nvSpPr>
          <p:cNvPr id="3" name="r1"/>
          <p:cNvSpPr txBox="1"/>
          <p:nvPr/>
        </p:nvSpPr>
        <p:spPr>
          <a:xfrm>
            <a:off x="1508760" y="943196"/>
            <a:ext cx="4069080" cy="1077218"/>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0" i="1" u="none" strike="noStrike" kern="1200" cap="none" spc="0" normalizeH="0" baseline="0" noProof="0" dirty="0">
                <a:ln>
                  <a:noFill/>
                </a:ln>
                <a:solidFill>
                  <a:srgbClr val="FFFFFF"/>
                </a:solidFill>
                <a:effectLst/>
                <a:uLnTx/>
                <a:uFillTx/>
                <a:latin typeface="Calibri"/>
                <a:ea typeface="+mn-ea"/>
                <a:cs typeface="+mn-cs"/>
              </a:rPr>
              <a:t>"Is it slow reading... or something else?"</a:t>
            </a:r>
          </a:p>
        </p:txBody>
      </p:sp>
      <p:sp>
        <p:nvSpPr>
          <p:cNvPr id="4" name="r2"/>
          <p:cNvSpPr/>
          <p:nvPr/>
        </p:nvSpPr>
        <p:spPr>
          <a:xfrm>
            <a:off x="502920" y="2194560"/>
            <a:ext cx="210312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Calibri"/>
                <a:ea typeface="+mn-ea"/>
                <a:cs typeface="+mn-cs"/>
              </a:rPr>
              <a:t>Risky deals get signed</a:t>
            </a:r>
          </a:p>
        </p:txBody>
      </p:sp>
      <p:sp>
        <p:nvSpPr>
          <p:cNvPr id="5" name="r3"/>
          <p:cNvSpPr/>
          <p:nvPr/>
        </p:nvSpPr>
        <p:spPr>
          <a:xfrm>
            <a:off x="2788920" y="2194560"/>
            <a:ext cx="210312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Calibri"/>
                <a:ea typeface="+mn-ea"/>
                <a:cs typeface="+mn-cs"/>
              </a:rPr>
              <a:t>He reads alone</a:t>
            </a:r>
          </a:p>
        </p:txBody>
      </p:sp>
      <p:sp>
        <p:nvSpPr>
          <p:cNvPr id="6" name="r4"/>
          <p:cNvSpPr/>
          <p:nvPr/>
        </p:nvSpPr>
        <p:spPr>
          <a:xfrm>
            <a:off x="5074920" y="2194560"/>
            <a:ext cx="210312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Calibri"/>
                <a:ea typeface="+mn-ea"/>
                <a:cs typeface="+mn-cs"/>
              </a:rPr>
              <a:t>Only he has the context</a:t>
            </a:r>
          </a:p>
        </p:txBody>
      </p:sp>
      <p:sp>
        <p:nvSpPr>
          <p:cNvPr id="7" name="r5"/>
          <p:cNvSpPr/>
          <p:nvPr/>
        </p:nvSpPr>
        <p:spPr>
          <a:xfrm>
            <a:off x="7360920" y="2194560"/>
            <a:ext cx="210312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Calibri"/>
                <a:ea typeface="+mn-ea"/>
                <a:cs typeface="+mn-cs"/>
              </a:rPr>
              <a:t>Promises are stored nowhere</a:t>
            </a:r>
          </a:p>
        </p:txBody>
      </p:sp>
      <p:sp>
        <p:nvSpPr>
          <p:cNvPr id="8" name="r6"/>
          <p:cNvSpPr/>
          <p:nvPr/>
        </p:nvSpPr>
        <p:spPr>
          <a:xfrm>
            <a:off x="9646920" y="2194560"/>
            <a:ext cx="2103120" cy="2103120"/>
          </a:xfrm>
          <a:prstGeom prst="roundRect">
            <a:avLst>
              <a:gd name="adj" fmla="val 10000"/>
            </a:avLst>
          </a:prstGeom>
          <a:solidFill>
            <a:srgbClr val="FF5A4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FFFFFF"/>
                </a:solidFill>
                <a:effectLst/>
                <a:uLnTx/>
                <a:uFillTx/>
                <a:latin typeface="Calibri"/>
                <a:ea typeface="+mn-ea"/>
                <a:cs typeface="+mn-cs"/>
              </a:rPr>
              <a:t>Process ends at signature</a:t>
            </a:r>
          </a:p>
        </p:txBody>
      </p:sp>
      <p:sp>
        <p:nvSpPr>
          <p:cNvPr id="9" name="r7"/>
          <p:cNvSpPr txBox="1"/>
          <p:nvPr/>
        </p:nvSpPr>
        <p:spPr>
          <a:xfrm>
            <a:off x="7597142" y="894338"/>
            <a:ext cx="4571998" cy="1077218"/>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A630"/>
                </a:solidFill>
                <a:effectLst/>
                <a:uLnTx/>
                <a:uFillTx/>
                <a:latin typeface="Calibri"/>
                <a:ea typeface="+mn-ea"/>
                <a:cs typeface="+mn-cs"/>
              </a:rPr>
              <a:t>A faster reader would not have saved Gulf Crown.</a:t>
            </a:r>
          </a:p>
        </p:txBody>
      </p:sp>
      <p:grpSp>
        <p:nvGrpSpPr>
          <p:cNvPr id="17" name="Group 16">
            <a:extLst>
              <a:ext uri="{FF2B5EF4-FFF2-40B4-BE49-F238E27FC236}">
                <a16:creationId xmlns:a16="http://schemas.microsoft.com/office/drawing/2014/main" id="{0BD3B05C-C9BC-877E-3C9A-89BD25E1E134}"/>
              </a:ext>
            </a:extLst>
          </p:cNvPr>
          <p:cNvGrpSpPr/>
          <p:nvPr/>
        </p:nvGrpSpPr>
        <p:grpSpPr>
          <a:xfrm>
            <a:off x="304800" y="4654767"/>
            <a:ext cx="11788140" cy="1105954"/>
            <a:chOff x="304800" y="4654767"/>
            <a:chExt cx="11788140" cy="1105954"/>
          </a:xfrm>
        </p:grpSpPr>
        <p:sp>
          <p:nvSpPr>
            <p:cNvPr id="11" name="Rounded Rectangle 35">
              <a:extLst>
                <a:ext uri="{FF2B5EF4-FFF2-40B4-BE49-F238E27FC236}">
                  <a16:creationId xmlns:a16="http://schemas.microsoft.com/office/drawing/2014/main" id="{FBCABFEE-D581-05E6-6685-E012D64DBDBA}"/>
                </a:ext>
              </a:extLst>
            </p:cNvPr>
            <p:cNvSpPr/>
            <p:nvPr/>
          </p:nvSpPr>
          <p:spPr>
            <a:xfrm>
              <a:off x="304800" y="4654767"/>
              <a:ext cx="11788140" cy="1105954"/>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r1">
              <a:extLst>
                <a:ext uri="{FF2B5EF4-FFF2-40B4-BE49-F238E27FC236}">
                  <a16:creationId xmlns:a16="http://schemas.microsoft.com/office/drawing/2014/main" id="{84D2EB13-11CA-38D2-85DD-D22F96881CC1}"/>
                </a:ext>
              </a:extLst>
            </p:cNvPr>
            <p:cNvSpPr txBox="1"/>
            <p:nvPr/>
          </p:nvSpPr>
          <p:spPr>
            <a:xfrm>
              <a:off x="624840" y="4866383"/>
              <a:ext cx="11468100" cy="707886"/>
            </a:xfrm>
            <a:prstGeom prst="rect">
              <a:avLst/>
            </a:prstGeom>
            <a:noFill/>
          </p:spPr>
          <p:txBody>
            <a:bodyPr wrap="square" lIns="45720" r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97D"/>
                  </a:solidFill>
                  <a:effectLst/>
                  <a:uLnTx/>
                  <a:uFillTx/>
                  <a:latin typeface="Calibri"/>
                  <a:ea typeface="+mn-ea"/>
                  <a:cs typeface="+mn-cs"/>
                </a:rPr>
                <a:t>AtliQ has no automatic process that turns signed contracts, and the terms agreed around them, into a verified record of what it has promised. So every review starts from memory.</a:t>
              </a:r>
            </a:p>
          </p:txBody>
        </p:sp>
      </p:grpSp>
      <p:pic>
        <p:nvPicPr>
          <p:cNvPr id="19" name="Picture 18" descr="av_p_thinking.png">
            <a:extLst>
              <a:ext uri="{FF2B5EF4-FFF2-40B4-BE49-F238E27FC236}">
                <a16:creationId xmlns:a16="http://schemas.microsoft.com/office/drawing/2014/main" id="{FB23AE5A-0BC4-54A3-9138-8DB692FE2045}"/>
              </a:ext>
            </a:extLst>
          </p:cNvPr>
          <p:cNvPicPr>
            <a:picLocks noChangeAspect="1"/>
          </p:cNvPicPr>
          <p:nvPr/>
        </p:nvPicPr>
        <p:blipFill>
          <a:blip r:embed="rId3"/>
          <a:stretch>
            <a:fillRect/>
          </a:stretch>
        </p:blipFill>
        <p:spPr>
          <a:xfrm>
            <a:off x="60960" y="863858"/>
            <a:ext cx="1127760" cy="1127760"/>
          </a:xfrm>
          <a:prstGeom prst="rect">
            <a:avLst/>
          </a:prstGeom>
        </p:spPr>
      </p:pic>
      <p:pic>
        <p:nvPicPr>
          <p:cNvPr id="21" name="Picture 20" descr="av_k_neutral.png">
            <a:extLst>
              <a:ext uri="{FF2B5EF4-FFF2-40B4-BE49-F238E27FC236}">
                <a16:creationId xmlns:a16="http://schemas.microsoft.com/office/drawing/2014/main" id="{6A6445FB-EF5D-168E-3A12-502A2353F559}"/>
              </a:ext>
            </a:extLst>
          </p:cNvPr>
          <p:cNvPicPr>
            <a:picLocks noChangeAspect="1"/>
          </p:cNvPicPr>
          <p:nvPr/>
        </p:nvPicPr>
        <p:blipFill>
          <a:blip r:embed="rId4"/>
          <a:stretch>
            <a:fillRect/>
          </a:stretch>
        </p:blipFill>
        <p:spPr>
          <a:xfrm>
            <a:off x="5897880" y="782836"/>
            <a:ext cx="1188720" cy="11887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4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4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4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4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animBg="1"/>
      <p:bldP spid="8" grpId="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THE IDEA</a:t>
            </a:r>
          </a:p>
        </p:txBody>
      </p:sp>
      <p:sp>
        <p:nvSpPr>
          <p:cNvPr id="3" name="r1"/>
          <p:cNvSpPr/>
          <p:nvPr/>
        </p:nvSpPr>
        <p:spPr>
          <a:xfrm>
            <a:off x="731520" y="1097280"/>
            <a:ext cx="3383280" cy="22860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400" b="1">
                <a:solidFill>
                  <a:srgbClr val="FFFFFF"/>
                </a:solidFill>
                <a:latin typeface="Calibri"/>
              </a:rPr>
              <a:t>CODE</a:t>
            </a:r>
          </a:p>
          <a:p>
            <a:pPr algn="ctr"/>
            <a:r>
              <a:rPr sz="2600">
                <a:solidFill>
                  <a:srgbClr val="9FB3CF"/>
                </a:solidFill>
                <a:latin typeface="Calibri"/>
              </a:rPr>
              <a:t>checks the facts</a:t>
            </a:r>
          </a:p>
        </p:txBody>
      </p:sp>
      <p:sp>
        <p:nvSpPr>
          <p:cNvPr id="4" name="r2"/>
          <p:cNvSpPr/>
          <p:nvPr/>
        </p:nvSpPr>
        <p:spPr>
          <a:xfrm>
            <a:off x="4389120" y="1097280"/>
            <a:ext cx="3383280" cy="22860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400" b="1">
                <a:solidFill>
                  <a:srgbClr val="FFFFFF"/>
                </a:solidFill>
                <a:latin typeface="Calibri"/>
              </a:rPr>
              <a:t>AI</a:t>
            </a:r>
          </a:p>
          <a:p>
            <a:pPr algn="ctr"/>
            <a:r>
              <a:rPr sz="2600">
                <a:solidFill>
                  <a:srgbClr val="9FB3CF"/>
                </a:solidFill>
                <a:latin typeface="Calibri"/>
              </a:rPr>
              <a:t>reads the text</a:t>
            </a:r>
          </a:p>
        </p:txBody>
      </p:sp>
      <p:sp>
        <p:nvSpPr>
          <p:cNvPr id="5" name="r3"/>
          <p:cNvSpPr/>
          <p:nvPr/>
        </p:nvSpPr>
        <p:spPr>
          <a:xfrm>
            <a:off x="8046720" y="1097280"/>
            <a:ext cx="3383280" cy="2286000"/>
          </a:xfrm>
          <a:prstGeom prst="roundRect">
            <a:avLst>
              <a:gd name="adj" fmla="val 10000"/>
            </a:avLst>
          </a:prstGeom>
          <a:solidFill>
            <a:srgbClr val="22375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400" b="1">
                <a:solidFill>
                  <a:srgbClr val="3DDC97"/>
                </a:solidFill>
                <a:latin typeface="Calibri"/>
              </a:rPr>
              <a:t>A PERSON</a:t>
            </a:r>
          </a:p>
          <a:p>
            <a:pPr algn="ctr"/>
            <a:r>
              <a:rPr sz="2600">
                <a:solidFill>
                  <a:srgbClr val="9FB3CF"/>
                </a:solidFill>
                <a:latin typeface="Calibri"/>
              </a:rPr>
              <a:t>decides</a:t>
            </a:r>
          </a:p>
        </p:txBody>
      </p:sp>
      <p:sp>
        <p:nvSpPr>
          <p:cNvPr id="6" name="r4"/>
          <p:cNvSpPr txBox="1"/>
          <p:nvPr/>
        </p:nvSpPr>
        <p:spPr>
          <a:xfrm>
            <a:off x="731520" y="3749039"/>
            <a:ext cx="10698480" cy="822960"/>
          </a:xfrm>
          <a:prstGeom prst="rect">
            <a:avLst/>
          </a:prstGeom>
          <a:noFill/>
        </p:spPr>
        <p:txBody>
          <a:bodyPr wrap="square" lIns="45720" rIns="45720" anchor="t">
            <a:spAutoFit/>
          </a:bodyPr>
          <a:lstStyle/>
          <a:p>
            <a:pPr algn="ctr"/>
            <a:r>
              <a:rPr sz="3400" b="1" i="0">
                <a:solidFill>
                  <a:srgbClr val="FFFFFF"/>
                </a:solidFill>
                <a:latin typeface="Calibri"/>
              </a:rPr>
              <a:t>Add  →  Confirm  →  Review  →  Decide  →  Sign by hand</a:t>
            </a:r>
          </a:p>
        </p:txBody>
      </p:sp>
      <p:sp>
        <p:nvSpPr>
          <p:cNvPr id="7" name="r5"/>
          <p:cNvSpPr/>
          <p:nvPr/>
        </p:nvSpPr>
        <p:spPr>
          <a:xfrm>
            <a:off x="731520" y="4846320"/>
            <a:ext cx="10698480" cy="1280160"/>
          </a:xfrm>
          <a:prstGeom prst="roundRect">
            <a:avLst>
              <a:gd name="adj" fmla="val 10000"/>
            </a:avLst>
          </a:prstGeom>
          <a:solidFill>
            <a:srgbClr val="FF5A4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400" b="1">
                <a:solidFill>
                  <a:srgbClr val="FFFFFF"/>
                </a:solidFill>
                <a:latin typeface="Calibri"/>
              </a:rPr>
              <a:t>It never signs.</a:t>
            </a:r>
          </a:p>
          <a:p>
            <a:pPr algn="ctr"/>
            <a:r>
              <a:rPr sz="2600">
                <a:solidFill>
                  <a:srgbClr val="FFFFFF"/>
                </a:solidFill>
                <a:latin typeface="Calibri"/>
              </a:rPr>
              <a:t>"Will it sign for me?"   "Never."</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TECH STACK  |  PROTOTYPE TODAY, STRATEGIC NEXT</a:t>
            </a:r>
          </a:p>
        </p:txBody>
      </p:sp>
      <p:sp>
        <p:nvSpPr>
          <p:cNvPr id="3" name="r1_h"/>
          <p:cNvSpPr txBox="1"/>
          <p:nvPr/>
        </p:nvSpPr>
        <p:spPr>
          <a:xfrm>
            <a:off x="2377440" y="1051560"/>
            <a:ext cx="4023360" cy="457200"/>
          </a:xfrm>
          <a:prstGeom prst="rect">
            <a:avLst/>
          </a:prstGeom>
          <a:noFill/>
        </p:spPr>
        <p:txBody>
          <a:bodyPr wrap="square" lIns="45720" rIns="45720" anchor="t">
            <a:spAutoFit/>
          </a:bodyPr>
          <a:lstStyle/>
          <a:p>
            <a:pPr algn="ctr"/>
            <a:r>
              <a:rPr sz="1800" b="1" i="0">
                <a:solidFill>
                  <a:srgbClr val="9FB3CF"/>
                </a:solidFill>
                <a:latin typeface="Calibri"/>
              </a:rPr>
              <a:t>PROTOTYPE</a:t>
            </a:r>
          </a:p>
        </p:txBody>
      </p:sp>
      <p:sp>
        <p:nvSpPr>
          <p:cNvPr id="4" name="r2_h"/>
          <p:cNvSpPr txBox="1"/>
          <p:nvPr/>
        </p:nvSpPr>
        <p:spPr>
          <a:xfrm>
            <a:off x="7132320" y="1051560"/>
            <a:ext cx="4663440" cy="457200"/>
          </a:xfrm>
          <a:prstGeom prst="rect">
            <a:avLst/>
          </a:prstGeom>
          <a:noFill/>
        </p:spPr>
        <p:txBody>
          <a:bodyPr wrap="square" lIns="45720" rIns="45720" anchor="t">
            <a:spAutoFit/>
          </a:bodyPr>
          <a:lstStyle/>
          <a:p>
            <a:pPr algn="ctr"/>
            <a:r>
              <a:rPr sz="1800" b="1" i="0">
                <a:solidFill>
                  <a:srgbClr val="3DDC97"/>
                </a:solidFill>
                <a:latin typeface="Calibri"/>
              </a:rPr>
              <a:t>STRATEGIC</a:t>
            </a:r>
          </a:p>
        </p:txBody>
      </p:sp>
      <p:sp>
        <p:nvSpPr>
          <p:cNvPr id="5" name="r1_l0"/>
          <p:cNvSpPr txBox="1"/>
          <p:nvPr/>
        </p:nvSpPr>
        <p:spPr>
          <a:xfrm>
            <a:off x="548640" y="1600200"/>
            <a:ext cx="1737360" cy="685800"/>
          </a:xfrm>
          <a:prstGeom prst="rect">
            <a:avLst/>
          </a:prstGeom>
          <a:noFill/>
        </p:spPr>
        <p:txBody>
          <a:bodyPr wrap="square" lIns="45720" rIns="45720" anchor="ctr">
            <a:spAutoFit/>
          </a:bodyPr>
          <a:lstStyle/>
          <a:p>
            <a:pPr algn="l"/>
            <a:r>
              <a:rPr sz="2000" b="1" i="0">
                <a:solidFill>
                  <a:srgbClr val="FFFFFF"/>
                </a:solidFill>
                <a:latin typeface="Calibri"/>
              </a:rPr>
              <a:t>Interface</a:t>
            </a:r>
          </a:p>
        </p:txBody>
      </p:sp>
      <p:pic>
        <p:nvPicPr>
          <p:cNvPr id="6" name="r1_a0_0" descr="html5.png"/>
          <p:cNvPicPr>
            <a:picLocks noChangeAspect="1"/>
          </p:cNvPicPr>
          <p:nvPr/>
        </p:nvPicPr>
        <p:blipFill>
          <a:blip r:embed="rId3"/>
          <a:stretch>
            <a:fillRect/>
          </a:stretch>
        </p:blipFill>
        <p:spPr>
          <a:xfrm>
            <a:off x="2377440" y="1691640"/>
            <a:ext cx="502920" cy="502920"/>
          </a:xfrm>
          <a:prstGeom prst="rect">
            <a:avLst/>
          </a:prstGeom>
        </p:spPr>
      </p:pic>
      <p:pic>
        <p:nvPicPr>
          <p:cNvPr id="7" name="r1_a0_1" descr="javascript.png"/>
          <p:cNvPicPr>
            <a:picLocks noChangeAspect="1"/>
          </p:cNvPicPr>
          <p:nvPr/>
        </p:nvPicPr>
        <p:blipFill>
          <a:blip r:embed="rId4"/>
          <a:stretch>
            <a:fillRect/>
          </a:stretch>
        </p:blipFill>
        <p:spPr>
          <a:xfrm>
            <a:off x="2971800" y="1691640"/>
            <a:ext cx="502920" cy="502920"/>
          </a:xfrm>
          <a:prstGeom prst="rect">
            <a:avLst/>
          </a:prstGeom>
        </p:spPr>
      </p:pic>
      <p:sp>
        <p:nvSpPr>
          <p:cNvPr id="8" name="r1_t0"/>
          <p:cNvSpPr txBox="1"/>
          <p:nvPr/>
        </p:nvSpPr>
        <p:spPr>
          <a:xfrm>
            <a:off x="3611879" y="1600200"/>
            <a:ext cx="2560320" cy="685800"/>
          </a:xfrm>
          <a:prstGeom prst="rect">
            <a:avLst/>
          </a:prstGeom>
          <a:noFill/>
        </p:spPr>
        <p:txBody>
          <a:bodyPr wrap="square" lIns="45720" rIns="45720" anchor="ctr">
            <a:spAutoFit/>
          </a:bodyPr>
          <a:lstStyle/>
          <a:p>
            <a:pPr algn="l"/>
            <a:r>
              <a:rPr sz="1800" b="0" i="0">
                <a:solidFill>
                  <a:srgbClr val="FFFFFF"/>
                </a:solidFill>
                <a:latin typeface="Calibri"/>
              </a:rPr>
              <a:t>One static web page</a:t>
            </a:r>
          </a:p>
        </p:txBody>
      </p:sp>
      <p:sp>
        <p:nvSpPr>
          <p:cNvPr id="9" name="r2_ar0"/>
          <p:cNvSpPr txBox="1"/>
          <p:nvPr/>
        </p:nvSpPr>
        <p:spPr>
          <a:xfrm>
            <a:off x="6400800" y="1600200"/>
            <a:ext cx="548640" cy="685800"/>
          </a:xfrm>
          <a:prstGeom prst="rect">
            <a:avLst/>
          </a:prstGeom>
          <a:noFill/>
        </p:spPr>
        <p:txBody>
          <a:bodyPr wrap="square" lIns="45720" rIns="45720" anchor="ctr">
            <a:spAutoFit/>
          </a:bodyPr>
          <a:lstStyle/>
          <a:p>
            <a:pPr algn="ctr"/>
            <a:r>
              <a:rPr sz="3000" b="1" i="0">
                <a:solidFill>
                  <a:srgbClr val="9FB3CF"/>
                </a:solidFill>
                <a:latin typeface="Calibri"/>
              </a:rPr>
              <a:t>→</a:t>
            </a:r>
          </a:p>
        </p:txBody>
      </p:sp>
      <p:pic>
        <p:nvPicPr>
          <p:cNvPr id="10" name="r2_b0_0" descr="react.png"/>
          <p:cNvPicPr>
            <a:picLocks noChangeAspect="1"/>
          </p:cNvPicPr>
          <p:nvPr/>
        </p:nvPicPr>
        <p:blipFill>
          <a:blip r:embed="rId5"/>
          <a:stretch>
            <a:fillRect/>
          </a:stretch>
        </p:blipFill>
        <p:spPr>
          <a:xfrm>
            <a:off x="7086600" y="1691640"/>
            <a:ext cx="502920" cy="502920"/>
          </a:xfrm>
          <a:prstGeom prst="rect">
            <a:avLst/>
          </a:prstGeom>
        </p:spPr>
      </p:pic>
      <p:pic>
        <p:nvPicPr>
          <p:cNvPr id="11" name="r2_b0_1" descr="nextdotjs_w.png"/>
          <p:cNvPicPr>
            <a:picLocks noChangeAspect="1"/>
          </p:cNvPicPr>
          <p:nvPr/>
        </p:nvPicPr>
        <p:blipFill>
          <a:blip r:embed="rId6"/>
          <a:stretch>
            <a:fillRect/>
          </a:stretch>
        </p:blipFill>
        <p:spPr>
          <a:xfrm>
            <a:off x="7680960" y="1691640"/>
            <a:ext cx="502920" cy="502920"/>
          </a:xfrm>
          <a:prstGeom prst="rect">
            <a:avLst/>
          </a:prstGeom>
        </p:spPr>
      </p:pic>
      <p:sp>
        <p:nvSpPr>
          <p:cNvPr id="12" name="r2_u0"/>
          <p:cNvSpPr txBox="1"/>
          <p:nvPr/>
        </p:nvSpPr>
        <p:spPr>
          <a:xfrm>
            <a:off x="8321040" y="1600200"/>
            <a:ext cx="3428999" cy="685800"/>
          </a:xfrm>
          <a:prstGeom prst="rect">
            <a:avLst/>
          </a:prstGeom>
          <a:noFill/>
        </p:spPr>
        <p:txBody>
          <a:bodyPr wrap="square" lIns="45720" rIns="45720" anchor="ctr">
            <a:spAutoFit/>
          </a:bodyPr>
          <a:lstStyle/>
          <a:p>
            <a:pPr algn="l"/>
            <a:r>
              <a:rPr sz="1800" b="0" i="0">
                <a:solidFill>
                  <a:srgbClr val="FFFFFF"/>
                </a:solidFill>
                <a:latin typeface="Calibri"/>
              </a:rPr>
              <a:t>React app, works on a phone</a:t>
            </a:r>
          </a:p>
        </p:txBody>
      </p:sp>
      <p:sp>
        <p:nvSpPr>
          <p:cNvPr id="13" name="r1_l1"/>
          <p:cNvSpPr txBox="1"/>
          <p:nvPr/>
        </p:nvSpPr>
        <p:spPr>
          <a:xfrm>
            <a:off x="548640" y="2359152"/>
            <a:ext cx="1737360" cy="685800"/>
          </a:xfrm>
          <a:prstGeom prst="rect">
            <a:avLst/>
          </a:prstGeom>
          <a:noFill/>
        </p:spPr>
        <p:txBody>
          <a:bodyPr wrap="square" lIns="45720" rIns="45720" anchor="ctr">
            <a:spAutoFit/>
          </a:bodyPr>
          <a:lstStyle/>
          <a:p>
            <a:pPr algn="l"/>
            <a:r>
              <a:rPr sz="2000" b="1" i="0">
                <a:solidFill>
                  <a:srgbClr val="FFFFFF"/>
                </a:solidFill>
                <a:latin typeface="Calibri"/>
              </a:rPr>
              <a:t>Backend</a:t>
            </a:r>
          </a:p>
        </p:txBody>
      </p:sp>
      <p:pic>
        <p:nvPicPr>
          <p:cNvPr id="14" name="r1_a1_0" descr="python.png"/>
          <p:cNvPicPr>
            <a:picLocks noChangeAspect="1"/>
          </p:cNvPicPr>
          <p:nvPr/>
        </p:nvPicPr>
        <p:blipFill>
          <a:blip r:embed="rId7"/>
          <a:stretch>
            <a:fillRect/>
          </a:stretch>
        </p:blipFill>
        <p:spPr>
          <a:xfrm>
            <a:off x="2377440" y="2450592"/>
            <a:ext cx="502920" cy="502920"/>
          </a:xfrm>
          <a:prstGeom prst="rect">
            <a:avLst/>
          </a:prstGeom>
        </p:spPr>
      </p:pic>
      <p:pic>
        <p:nvPicPr>
          <p:cNvPr id="15" name="r1_a1_1" descr="vercel_w.png"/>
          <p:cNvPicPr>
            <a:picLocks noChangeAspect="1"/>
          </p:cNvPicPr>
          <p:nvPr/>
        </p:nvPicPr>
        <p:blipFill>
          <a:blip r:embed="rId8"/>
          <a:stretch>
            <a:fillRect/>
          </a:stretch>
        </p:blipFill>
        <p:spPr>
          <a:xfrm>
            <a:off x="2971800" y="2450592"/>
            <a:ext cx="502920" cy="502920"/>
          </a:xfrm>
          <a:prstGeom prst="rect">
            <a:avLst/>
          </a:prstGeom>
        </p:spPr>
      </p:pic>
      <p:sp>
        <p:nvSpPr>
          <p:cNvPr id="16" name="r1_t1"/>
          <p:cNvSpPr txBox="1"/>
          <p:nvPr/>
        </p:nvSpPr>
        <p:spPr>
          <a:xfrm>
            <a:off x="3611879" y="2359152"/>
            <a:ext cx="2560320" cy="685800"/>
          </a:xfrm>
          <a:prstGeom prst="rect">
            <a:avLst/>
          </a:prstGeom>
          <a:noFill/>
        </p:spPr>
        <p:txBody>
          <a:bodyPr wrap="square" lIns="45720" rIns="45720" anchor="ctr">
            <a:spAutoFit/>
          </a:bodyPr>
          <a:lstStyle/>
          <a:p>
            <a:pPr algn="l"/>
            <a:r>
              <a:rPr sz="1800" b="0" i="0">
                <a:solidFill>
                  <a:srgbClr val="FFFFFF"/>
                </a:solidFill>
                <a:latin typeface="Calibri"/>
              </a:rPr>
              <a:t>Python function on Vercel</a:t>
            </a:r>
          </a:p>
        </p:txBody>
      </p:sp>
      <p:sp>
        <p:nvSpPr>
          <p:cNvPr id="17" name="r2_ar1"/>
          <p:cNvSpPr txBox="1"/>
          <p:nvPr/>
        </p:nvSpPr>
        <p:spPr>
          <a:xfrm>
            <a:off x="6400800" y="2359152"/>
            <a:ext cx="548640" cy="685800"/>
          </a:xfrm>
          <a:prstGeom prst="rect">
            <a:avLst/>
          </a:prstGeom>
          <a:noFill/>
        </p:spPr>
        <p:txBody>
          <a:bodyPr wrap="square" lIns="45720" rIns="45720" anchor="ctr">
            <a:spAutoFit/>
          </a:bodyPr>
          <a:lstStyle/>
          <a:p>
            <a:pPr algn="ctr"/>
            <a:r>
              <a:rPr sz="3000" b="1" i="0">
                <a:solidFill>
                  <a:srgbClr val="9FB3CF"/>
                </a:solidFill>
                <a:latin typeface="Calibri"/>
              </a:rPr>
              <a:t>→</a:t>
            </a:r>
          </a:p>
        </p:txBody>
      </p:sp>
      <p:pic>
        <p:nvPicPr>
          <p:cNvPr id="18" name="r2_b1_0" descr="fastapi.png"/>
          <p:cNvPicPr>
            <a:picLocks noChangeAspect="1"/>
          </p:cNvPicPr>
          <p:nvPr/>
        </p:nvPicPr>
        <p:blipFill>
          <a:blip r:embed="rId9"/>
          <a:stretch>
            <a:fillRect/>
          </a:stretch>
        </p:blipFill>
        <p:spPr>
          <a:xfrm>
            <a:off x="7086600" y="2450592"/>
            <a:ext cx="502920" cy="502920"/>
          </a:xfrm>
          <a:prstGeom prst="rect">
            <a:avLst/>
          </a:prstGeom>
        </p:spPr>
      </p:pic>
      <p:pic>
        <p:nvPicPr>
          <p:cNvPr id="19" name="r2_b1_1" descr="docker.png"/>
          <p:cNvPicPr>
            <a:picLocks noChangeAspect="1"/>
          </p:cNvPicPr>
          <p:nvPr/>
        </p:nvPicPr>
        <p:blipFill>
          <a:blip r:embed="rId10"/>
          <a:stretch>
            <a:fillRect/>
          </a:stretch>
        </p:blipFill>
        <p:spPr>
          <a:xfrm>
            <a:off x="7680960" y="2450592"/>
            <a:ext cx="502920" cy="502920"/>
          </a:xfrm>
          <a:prstGeom prst="rect">
            <a:avLst/>
          </a:prstGeom>
        </p:spPr>
      </p:pic>
      <p:sp>
        <p:nvSpPr>
          <p:cNvPr id="20" name="r2_u1"/>
          <p:cNvSpPr txBox="1"/>
          <p:nvPr/>
        </p:nvSpPr>
        <p:spPr>
          <a:xfrm>
            <a:off x="8321040" y="2359152"/>
            <a:ext cx="3428999" cy="685800"/>
          </a:xfrm>
          <a:prstGeom prst="rect">
            <a:avLst/>
          </a:prstGeom>
          <a:noFill/>
        </p:spPr>
        <p:txBody>
          <a:bodyPr wrap="square" lIns="45720" rIns="45720" anchor="ctr">
            <a:spAutoFit/>
          </a:bodyPr>
          <a:lstStyle/>
          <a:p>
            <a:pPr algn="l"/>
            <a:r>
              <a:rPr sz="1800" b="0" i="0">
                <a:solidFill>
                  <a:srgbClr val="FFFFFF"/>
                </a:solidFill>
                <a:latin typeface="Calibri"/>
              </a:rPr>
              <a:t>FastAPI service and a job queue</a:t>
            </a:r>
          </a:p>
        </p:txBody>
      </p:sp>
      <p:sp>
        <p:nvSpPr>
          <p:cNvPr id="21" name="r1_l2"/>
          <p:cNvSpPr txBox="1"/>
          <p:nvPr/>
        </p:nvSpPr>
        <p:spPr>
          <a:xfrm>
            <a:off x="548640" y="3118104"/>
            <a:ext cx="1737360" cy="685800"/>
          </a:xfrm>
          <a:prstGeom prst="rect">
            <a:avLst/>
          </a:prstGeom>
          <a:noFill/>
        </p:spPr>
        <p:txBody>
          <a:bodyPr wrap="square" lIns="45720" rIns="45720" anchor="ctr">
            <a:spAutoFit/>
          </a:bodyPr>
          <a:lstStyle/>
          <a:p>
            <a:pPr algn="l"/>
            <a:r>
              <a:rPr sz="2000" b="1" i="0">
                <a:solidFill>
                  <a:srgbClr val="FFFFFF"/>
                </a:solidFill>
                <a:latin typeface="Calibri"/>
              </a:rPr>
              <a:t>AI models</a:t>
            </a:r>
          </a:p>
        </p:txBody>
      </p:sp>
      <p:pic>
        <p:nvPicPr>
          <p:cNvPr id="22" name="r1_a2_0" descr="googlegemini.png"/>
          <p:cNvPicPr>
            <a:picLocks noChangeAspect="1"/>
          </p:cNvPicPr>
          <p:nvPr/>
        </p:nvPicPr>
        <p:blipFill>
          <a:blip r:embed="rId11"/>
          <a:stretch>
            <a:fillRect/>
          </a:stretch>
        </p:blipFill>
        <p:spPr>
          <a:xfrm>
            <a:off x="2377440" y="3209544"/>
            <a:ext cx="502920" cy="502920"/>
          </a:xfrm>
          <a:prstGeom prst="rect">
            <a:avLst/>
          </a:prstGeom>
        </p:spPr>
      </p:pic>
      <p:sp>
        <p:nvSpPr>
          <p:cNvPr id="23" name="r1_t2"/>
          <p:cNvSpPr txBox="1"/>
          <p:nvPr/>
        </p:nvSpPr>
        <p:spPr>
          <a:xfrm>
            <a:off x="3017520" y="3118104"/>
            <a:ext cx="3154680" cy="685800"/>
          </a:xfrm>
          <a:prstGeom prst="rect">
            <a:avLst/>
          </a:prstGeom>
          <a:noFill/>
        </p:spPr>
        <p:txBody>
          <a:bodyPr wrap="square" lIns="45720" rIns="45720" anchor="ctr">
            <a:spAutoFit/>
          </a:bodyPr>
          <a:lstStyle/>
          <a:p>
            <a:pPr algn="l"/>
            <a:r>
              <a:rPr sz="1800" b="0" i="0">
                <a:solidFill>
                  <a:srgbClr val="FFFFFF"/>
                </a:solidFill>
                <a:latin typeface="Calibri"/>
              </a:rPr>
              <a:t>Gemini free tier, Groq as backup</a:t>
            </a:r>
          </a:p>
        </p:txBody>
      </p:sp>
      <p:sp>
        <p:nvSpPr>
          <p:cNvPr id="24" name="r2_ar2"/>
          <p:cNvSpPr txBox="1"/>
          <p:nvPr/>
        </p:nvSpPr>
        <p:spPr>
          <a:xfrm>
            <a:off x="6400800" y="3118104"/>
            <a:ext cx="548640" cy="685800"/>
          </a:xfrm>
          <a:prstGeom prst="rect">
            <a:avLst/>
          </a:prstGeom>
          <a:noFill/>
        </p:spPr>
        <p:txBody>
          <a:bodyPr wrap="square" lIns="45720" rIns="45720" anchor="ctr">
            <a:spAutoFit/>
          </a:bodyPr>
          <a:lstStyle/>
          <a:p>
            <a:pPr algn="ctr"/>
            <a:r>
              <a:rPr sz="3000" b="1" i="0">
                <a:solidFill>
                  <a:srgbClr val="9FB3CF"/>
                </a:solidFill>
                <a:latin typeface="Calibri"/>
              </a:rPr>
              <a:t>→</a:t>
            </a:r>
          </a:p>
        </p:txBody>
      </p:sp>
      <p:pic>
        <p:nvPicPr>
          <p:cNvPr id="25" name="r2_b2_0" descr="googlegemini.png"/>
          <p:cNvPicPr>
            <a:picLocks noChangeAspect="1"/>
          </p:cNvPicPr>
          <p:nvPr/>
        </p:nvPicPr>
        <p:blipFill>
          <a:blip r:embed="rId11"/>
          <a:stretch>
            <a:fillRect/>
          </a:stretch>
        </p:blipFill>
        <p:spPr>
          <a:xfrm>
            <a:off x="7086600" y="3209544"/>
            <a:ext cx="502920" cy="502920"/>
          </a:xfrm>
          <a:prstGeom prst="rect">
            <a:avLst/>
          </a:prstGeom>
        </p:spPr>
      </p:pic>
      <p:pic>
        <p:nvPicPr>
          <p:cNvPr id="26" name="r2_b2_1" descr="anthropic_w.png"/>
          <p:cNvPicPr>
            <a:picLocks noChangeAspect="1"/>
          </p:cNvPicPr>
          <p:nvPr/>
        </p:nvPicPr>
        <p:blipFill>
          <a:blip r:embed="rId12"/>
          <a:stretch>
            <a:fillRect/>
          </a:stretch>
        </p:blipFill>
        <p:spPr>
          <a:xfrm>
            <a:off x="7680960" y="3209544"/>
            <a:ext cx="502920" cy="502920"/>
          </a:xfrm>
          <a:prstGeom prst="rect">
            <a:avLst/>
          </a:prstGeom>
        </p:spPr>
      </p:pic>
      <p:sp>
        <p:nvSpPr>
          <p:cNvPr id="27" name="r2_u2"/>
          <p:cNvSpPr txBox="1"/>
          <p:nvPr/>
        </p:nvSpPr>
        <p:spPr>
          <a:xfrm>
            <a:off x="8321040" y="3118104"/>
            <a:ext cx="3428999" cy="685800"/>
          </a:xfrm>
          <a:prstGeom prst="rect">
            <a:avLst/>
          </a:prstGeom>
          <a:noFill/>
        </p:spPr>
        <p:txBody>
          <a:bodyPr wrap="square" lIns="45720" rIns="45720" anchor="ctr">
            <a:spAutoFit/>
          </a:bodyPr>
          <a:lstStyle/>
          <a:p>
            <a:pPr algn="l"/>
            <a:r>
              <a:rPr sz="1800" b="0" i="0">
                <a:solidFill>
                  <a:srgbClr val="FFFFFF"/>
                </a:solidFill>
                <a:latin typeface="Calibri"/>
              </a:rPr>
              <a:t>Paid, no-training terms, two tiers</a:t>
            </a:r>
          </a:p>
        </p:txBody>
      </p:sp>
      <p:sp>
        <p:nvSpPr>
          <p:cNvPr id="28" name="r1_l3"/>
          <p:cNvSpPr txBox="1"/>
          <p:nvPr/>
        </p:nvSpPr>
        <p:spPr>
          <a:xfrm>
            <a:off x="548640" y="3877056"/>
            <a:ext cx="1737360" cy="685800"/>
          </a:xfrm>
          <a:prstGeom prst="rect">
            <a:avLst/>
          </a:prstGeom>
          <a:noFill/>
        </p:spPr>
        <p:txBody>
          <a:bodyPr wrap="square" lIns="45720" rIns="45720" anchor="ctr">
            <a:spAutoFit/>
          </a:bodyPr>
          <a:lstStyle/>
          <a:p>
            <a:pPr algn="l"/>
            <a:r>
              <a:rPr sz="2000" b="1" i="0">
                <a:solidFill>
                  <a:srgbClr val="FFFFFF"/>
                </a:solidFill>
                <a:latin typeface="Calibri"/>
              </a:rPr>
              <a:t>Storage</a:t>
            </a:r>
          </a:p>
        </p:txBody>
      </p:sp>
      <p:pic>
        <p:nvPicPr>
          <p:cNvPr id="29" name="r1_a3_0" descr="googlechrome.png"/>
          <p:cNvPicPr>
            <a:picLocks noChangeAspect="1"/>
          </p:cNvPicPr>
          <p:nvPr/>
        </p:nvPicPr>
        <p:blipFill>
          <a:blip r:embed="rId13"/>
          <a:stretch>
            <a:fillRect/>
          </a:stretch>
        </p:blipFill>
        <p:spPr>
          <a:xfrm>
            <a:off x="2377440" y="3968496"/>
            <a:ext cx="502920" cy="502920"/>
          </a:xfrm>
          <a:prstGeom prst="rect">
            <a:avLst/>
          </a:prstGeom>
        </p:spPr>
      </p:pic>
      <p:sp>
        <p:nvSpPr>
          <p:cNvPr id="30" name="r1_t3"/>
          <p:cNvSpPr txBox="1"/>
          <p:nvPr/>
        </p:nvSpPr>
        <p:spPr>
          <a:xfrm>
            <a:off x="3017520" y="3877056"/>
            <a:ext cx="3154680" cy="685800"/>
          </a:xfrm>
          <a:prstGeom prst="rect">
            <a:avLst/>
          </a:prstGeom>
          <a:noFill/>
        </p:spPr>
        <p:txBody>
          <a:bodyPr wrap="square" lIns="45720" rIns="45720" anchor="ctr">
            <a:spAutoFit/>
          </a:bodyPr>
          <a:lstStyle/>
          <a:p>
            <a:pPr algn="l"/>
            <a:r>
              <a:rPr sz="1800" b="0" i="0">
                <a:solidFill>
                  <a:srgbClr val="FFFFFF"/>
                </a:solidFill>
                <a:latin typeface="Calibri"/>
              </a:rPr>
              <a:t>Browser cache (localStorage)</a:t>
            </a:r>
          </a:p>
        </p:txBody>
      </p:sp>
      <p:sp>
        <p:nvSpPr>
          <p:cNvPr id="31" name="r2_ar3"/>
          <p:cNvSpPr txBox="1"/>
          <p:nvPr/>
        </p:nvSpPr>
        <p:spPr>
          <a:xfrm>
            <a:off x="6400800" y="3877056"/>
            <a:ext cx="548640" cy="685800"/>
          </a:xfrm>
          <a:prstGeom prst="rect">
            <a:avLst/>
          </a:prstGeom>
          <a:noFill/>
        </p:spPr>
        <p:txBody>
          <a:bodyPr wrap="square" lIns="45720" rIns="45720" anchor="ctr">
            <a:spAutoFit/>
          </a:bodyPr>
          <a:lstStyle/>
          <a:p>
            <a:pPr algn="ctr"/>
            <a:r>
              <a:rPr sz="3000" b="1" i="0">
                <a:solidFill>
                  <a:srgbClr val="9FB3CF"/>
                </a:solidFill>
                <a:latin typeface="Calibri"/>
              </a:rPr>
              <a:t>→</a:t>
            </a:r>
          </a:p>
        </p:txBody>
      </p:sp>
      <p:pic>
        <p:nvPicPr>
          <p:cNvPr id="32" name="r2_b3_0" descr="postgresql.png"/>
          <p:cNvPicPr>
            <a:picLocks noChangeAspect="1"/>
          </p:cNvPicPr>
          <p:nvPr/>
        </p:nvPicPr>
        <p:blipFill>
          <a:blip r:embed="rId14"/>
          <a:stretch>
            <a:fillRect/>
          </a:stretch>
        </p:blipFill>
        <p:spPr>
          <a:xfrm>
            <a:off x="7086600" y="3968496"/>
            <a:ext cx="502920" cy="502920"/>
          </a:xfrm>
          <a:prstGeom prst="rect">
            <a:avLst/>
          </a:prstGeom>
        </p:spPr>
      </p:pic>
      <p:pic>
        <p:nvPicPr>
          <p:cNvPr id="33" name="r2_b3_1" descr="supabase.png"/>
          <p:cNvPicPr>
            <a:picLocks noChangeAspect="1"/>
          </p:cNvPicPr>
          <p:nvPr/>
        </p:nvPicPr>
        <p:blipFill>
          <a:blip r:embed="rId15"/>
          <a:stretch>
            <a:fillRect/>
          </a:stretch>
        </p:blipFill>
        <p:spPr>
          <a:xfrm>
            <a:off x="7680960" y="3968496"/>
            <a:ext cx="502920" cy="502920"/>
          </a:xfrm>
          <a:prstGeom prst="rect">
            <a:avLst/>
          </a:prstGeom>
        </p:spPr>
      </p:pic>
      <p:sp>
        <p:nvSpPr>
          <p:cNvPr id="34" name="r2_u3"/>
          <p:cNvSpPr txBox="1"/>
          <p:nvPr/>
        </p:nvSpPr>
        <p:spPr>
          <a:xfrm>
            <a:off x="8321040" y="3877056"/>
            <a:ext cx="3428999" cy="685800"/>
          </a:xfrm>
          <a:prstGeom prst="rect">
            <a:avLst/>
          </a:prstGeom>
          <a:noFill/>
        </p:spPr>
        <p:txBody>
          <a:bodyPr wrap="square" lIns="45720" rIns="45720" anchor="ctr">
            <a:spAutoFit/>
          </a:bodyPr>
          <a:lstStyle/>
          <a:p>
            <a:pPr algn="l"/>
            <a:r>
              <a:rPr sz="1800" b="0" i="0">
                <a:solidFill>
                  <a:srgbClr val="FFFFFF"/>
                </a:solidFill>
                <a:latin typeface="Calibri"/>
              </a:rPr>
              <a:t>PostgreSQL plus encrypted file store</a:t>
            </a:r>
          </a:p>
        </p:txBody>
      </p:sp>
      <p:sp>
        <p:nvSpPr>
          <p:cNvPr id="35" name="r1_l4"/>
          <p:cNvSpPr txBox="1"/>
          <p:nvPr/>
        </p:nvSpPr>
        <p:spPr>
          <a:xfrm>
            <a:off x="548640" y="4636008"/>
            <a:ext cx="1737360" cy="685800"/>
          </a:xfrm>
          <a:prstGeom prst="rect">
            <a:avLst/>
          </a:prstGeom>
          <a:noFill/>
        </p:spPr>
        <p:txBody>
          <a:bodyPr wrap="square" lIns="45720" rIns="45720" anchor="ctr">
            <a:spAutoFit/>
          </a:bodyPr>
          <a:lstStyle/>
          <a:p>
            <a:pPr algn="l"/>
            <a:r>
              <a:rPr sz="2000" b="1" i="0">
                <a:solidFill>
                  <a:srgbClr val="FFFFFF"/>
                </a:solidFill>
                <a:latin typeface="Calibri"/>
              </a:rPr>
              <a:t>Access</a:t>
            </a:r>
          </a:p>
        </p:txBody>
      </p:sp>
      <p:sp>
        <p:nvSpPr>
          <p:cNvPr id="36" name="r1_t4"/>
          <p:cNvSpPr txBox="1"/>
          <p:nvPr/>
        </p:nvSpPr>
        <p:spPr>
          <a:xfrm>
            <a:off x="2423160" y="4636008"/>
            <a:ext cx="3749040" cy="685800"/>
          </a:xfrm>
          <a:prstGeom prst="rect">
            <a:avLst/>
          </a:prstGeom>
          <a:noFill/>
        </p:spPr>
        <p:txBody>
          <a:bodyPr wrap="square" lIns="45720" rIns="45720" anchor="ctr">
            <a:spAutoFit/>
          </a:bodyPr>
          <a:lstStyle/>
          <a:p>
            <a:pPr algn="l"/>
            <a:r>
              <a:rPr sz="1800" b="0" i="0">
                <a:solidFill>
                  <a:srgbClr val="FFFFFF"/>
                </a:solidFill>
                <a:latin typeface="Calibri"/>
              </a:rPr>
              <a:t>Optional access code, rate limit</a:t>
            </a:r>
          </a:p>
        </p:txBody>
      </p:sp>
      <p:sp>
        <p:nvSpPr>
          <p:cNvPr id="37" name="r2_ar4"/>
          <p:cNvSpPr txBox="1"/>
          <p:nvPr/>
        </p:nvSpPr>
        <p:spPr>
          <a:xfrm>
            <a:off x="6400800" y="4636008"/>
            <a:ext cx="548640" cy="685800"/>
          </a:xfrm>
          <a:prstGeom prst="rect">
            <a:avLst/>
          </a:prstGeom>
          <a:noFill/>
        </p:spPr>
        <p:txBody>
          <a:bodyPr wrap="square" lIns="45720" rIns="45720" anchor="ctr">
            <a:spAutoFit/>
          </a:bodyPr>
          <a:lstStyle/>
          <a:p>
            <a:pPr algn="ctr"/>
            <a:r>
              <a:rPr sz="3000" b="1" i="0">
                <a:solidFill>
                  <a:srgbClr val="9FB3CF"/>
                </a:solidFill>
                <a:latin typeface="Calibri"/>
              </a:rPr>
              <a:t>→</a:t>
            </a:r>
          </a:p>
        </p:txBody>
      </p:sp>
      <p:pic>
        <p:nvPicPr>
          <p:cNvPr id="38" name="r2_b4_0" descr="auth0.png"/>
          <p:cNvPicPr>
            <a:picLocks noChangeAspect="1"/>
          </p:cNvPicPr>
          <p:nvPr/>
        </p:nvPicPr>
        <p:blipFill>
          <a:blip r:embed="rId16"/>
          <a:stretch>
            <a:fillRect/>
          </a:stretch>
        </p:blipFill>
        <p:spPr>
          <a:xfrm>
            <a:off x="7086600" y="4727448"/>
            <a:ext cx="502920" cy="502920"/>
          </a:xfrm>
          <a:prstGeom prst="rect">
            <a:avLst/>
          </a:prstGeom>
        </p:spPr>
      </p:pic>
      <p:pic>
        <p:nvPicPr>
          <p:cNvPr id="39" name="r2_b4_1" descr="okta.png"/>
          <p:cNvPicPr>
            <a:picLocks noChangeAspect="1"/>
          </p:cNvPicPr>
          <p:nvPr/>
        </p:nvPicPr>
        <p:blipFill>
          <a:blip r:embed="rId17"/>
          <a:stretch>
            <a:fillRect/>
          </a:stretch>
        </p:blipFill>
        <p:spPr>
          <a:xfrm>
            <a:off x="7680960" y="4727448"/>
            <a:ext cx="502920" cy="502920"/>
          </a:xfrm>
          <a:prstGeom prst="rect">
            <a:avLst/>
          </a:prstGeom>
        </p:spPr>
      </p:pic>
      <p:sp>
        <p:nvSpPr>
          <p:cNvPr id="40" name="r2_u4"/>
          <p:cNvSpPr txBox="1"/>
          <p:nvPr/>
        </p:nvSpPr>
        <p:spPr>
          <a:xfrm>
            <a:off x="8321040" y="4636008"/>
            <a:ext cx="3428999" cy="685800"/>
          </a:xfrm>
          <a:prstGeom prst="rect">
            <a:avLst/>
          </a:prstGeom>
          <a:noFill/>
        </p:spPr>
        <p:txBody>
          <a:bodyPr wrap="square" lIns="45720" rIns="45720" anchor="ctr">
            <a:spAutoFit/>
          </a:bodyPr>
          <a:lstStyle/>
          <a:p>
            <a:pPr algn="l"/>
            <a:r>
              <a:rPr sz="1800" b="0" i="0">
                <a:solidFill>
                  <a:srgbClr val="FFFFFF"/>
                </a:solidFill>
                <a:latin typeface="Calibri"/>
              </a:rPr>
              <a:t>Single sign-on, roles, audit log</a:t>
            </a:r>
          </a:p>
        </p:txBody>
      </p:sp>
      <p:sp>
        <p:nvSpPr>
          <p:cNvPr id="41" name="r1_l5"/>
          <p:cNvSpPr txBox="1"/>
          <p:nvPr/>
        </p:nvSpPr>
        <p:spPr>
          <a:xfrm>
            <a:off x="548640" y="5394960"/>
            <a:ext cx="1737360" cy="685800"/>
          </a:xfrm>
          <a:prstGeom prst="rect">
            <a:avLst/>
          </a:prstGeom>
          <a:noFill/>
        </p:spPr>
        <p:txBody>
          <a:bodyPr wrap="square" lIns="45720" rIns="45720" anchor="ctr">
            <a:spAutoFit/>
          </a:bodyPr>
          <a:lstStyle/>
          <a:p>
            <a:pPr algn="l"/>
            <a:r>
              <a:rPr sz="2000" b="1" i="0">
                <a:solidFill>
                  <a:srgbClr val="FFFFFF"/>
                </a:solidFill>
                <a:latin typeface="Calibri"/>
              </a:rPr>
              <a:t>Quality</a:t>
            </a:r>
          </a:p>
        </p:txBody>
      </p:sp>
      <p:pic>
        <p:nvPicPr>
          <p:cNvPr id="42" name="r1_a5_0" descr="github_w.png"/>
          <p:cNvPicPr>
            <a:picLocks noChangeAspect="1"/>
          </p:cNvPicPr>
          <p:nvPr/>
        </p:nvPicPr>
        <p:blipFill>
          <a:blip r:embed="rId18"/>
          <a:stretch>
            <a:fillRect/>
          </a:stretch>
        </p:blipFill>
        <p:spPr>
          <a:xfrm>
            <a:off x="2377440" y="5486400"/>
            <a:ext cx="502920" cy="502920"/>
          </a:xfrm>
          <a:prstGeom prst="rect">
            <a:avLst/>
          </a:prstGeom>
        </p:spPr>
      </p:pic>
      <p:sp>
        <p:nvSpPr>
          <p:cNvPr id="43" name="r1_t5"/>
          <p:cNvSpPr txBox="1"/>
          <p:nvPr/>
        </p:nvSpPr>
        <p:spPr>
          <a:xfrm>
            <a:off x="3017520" y="5394960"/>
            <a:ext cx="3154680" cy="685800"/>
          </a:xfrm>
          <a:prstGeom prst="rect">
            <a:avLst/>
          </a:prstGeom>
          <a:noFill/>
        </p:spPr>
        <p:txBody>
          <a:bodyPr wrap="square" lIns="45720" rIns="45720" anchor="ctr">
            <a:spAutoFit/>
          </a:bodyPr>
          <a:lstStyle/>
          <a:p>
            <a:pPr algn="l"/>
            <a:r>
              <a:rPr sz="1800" b="0" i="0">
                <a:solidFill>
                  <a:srgbClr val="FFFFFF"/>
                </a:solidFill>
                <a:latin typeface="Calibri"/>
              </a:rPr>
              <a:t>GitHub, 97 offline tests</a:t>
            </a:r>
          </a:p>
        </p:txBody>
      </p:sp>
      <p:sp>
        <p:nvSpPr>
          <p:cNvPr id="44" name="r2_ar5"/>
          <p:cNvSpPr txBox="1"/>
          <p:nvPr/>
        </p:nvSpPr>
        <p:spPr>
          <a:xfrm>
            <a:off x="6400800" y="5394960"/>
            <a:ext cx="548640" cy="685800"/>
          </a:xfrm>
          <a:prstGeom prst="rect">
            <a:avLst/>
          </a:prstGeom>
          <a:noFill/>
        </p:spPr>
        <p:txBody>
          <a:bodyPr wrap="square" lIns="45720" rIns="45720" anchor="ctr">
            <a:spAutoFit/>
          </a:bodyPr>
          <a:lstStyle/>
          <a:p>
            <a:pPr algn="ctr"/>
            <a:r>
              <a:rPr sz="3000" b="1" i="0">
                <a:solidFill>
                  <a:srgbClr val="9FB3CF"/>
                </a:solidFill>
                <a:latin typeface="Calibri"/>
              </a:rPr>
              <a:t>→</a:t>
            </a:r>
          </a:p>
        </p:txBody>
      </p:sp>
      <p:pic>
        <p:nvPicPr>
          <p:cNvPr id="45" name="r2_b5_0" descr="githubactions.png"/>
          <p:cNvPicPr>
            <a:picLocks noChangeAspect="1"/>
          </p:cNvPicPr>
          <p:nvPr/>
        </p:nvPicPr>
        <p:blipFill>
          <a:blip r:embed="rId19"/>
          <a:stretch>
            <a:fillRect/>
          </a:stretch>
        </p:blipFill>
        <p:spPr>
          <a:xfrm>
            <a:off x="7086600" y="5486400"/>
            <a:ext cx="502920" cy="502920"/>
          </a:xfrm>
          <a:prstGeom prst="rect">
            <a:avLst/>
          </a:prstGeom>
        </p:spPr>
      </p:pic>
      <p:sp>
        <p:nvSpPr>
          <p:cNvPr id="46" name="r2_u5"/>
          <p:cNvSpPr txBox="1"/>
          <p:nvPr/>
        </p:nvSpPr>
        <p:spPr>
          <a:xfrm>
            <a:off x="7726680" y="5394960"/>
            <a:ext cx="4023360" cy="685800"/>
          </a:xfrm>
          <a:prstGeom prst="rect">
            <a:avLst/>
          </a:prstGeom>
          <a:noFill/>
        </p:spPr>
        <p:txBody>
          <a:bodyPr wrap="square" lIns="45720" rIns="45720" anchor="ctr">
            <a:spAutoFit/>
          </a:bodyPr>
          <a:lstStyle/>
          <a:p>
            <a:pPr algn="l"/>
            <a:r>
              <a:rPr sz="1800" b="0" i="0">
                <a:solidFill>
                  <a:srgbClr val="FFFFFF"/>
                </a:solidFill>
                <a:latin typeface="Calibri"/>
              </a:rPr>
              <a:t>Automatic eval gate on every change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00"/>
                                        <p:tgtEl>
                                          <p:spTgt spid="3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400"/>
                                        <p:tgtEl>
                                          <p:spTgt spid="41"/>
                                        </p:tgtEl>
                                      </p:cBhvr>
                                    </p:animEffect>
                                  </p:childTnLst>
                                </p:cTn>
                              </p:par>
                              <p:par>
                                <p:cTn id="59" presetID="10" presetClass="entr" presetSubtype="0"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40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400"/>
                                        <p:tgtEl>
                                          <p:spTgt spid="4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400"/>
                                        <p:tgtEl>
                                          <p:spTgt spid="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400"/>
                                        <p:tgtEl>
                                          <p:spTgt spid="9"/>
                                        </p:tgtEl>
                                      </p:cBhvr>
                                    </p:animEffect>
                                  </p:childTnLst>
                                </p:cTn>
                              </p:par>
                              <p:par>
                                <p:cTn id="73" presetID="10" presetClass="entr" presetSubtype="0" fill="hold" nodeType="with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400"/>
                                        <p:tgtEl>
                                          <p:spTgt spid="10"/>
                                        </p:tgtEl>
                                      </p:cBhvr>
                                    </p:animEffect>
                                  </p:childTnLst>
                                </p:cTn>
                              </p:par>
                              <p:par>
                                <p:cTn id="76" presetID="10" presetClass="entr" presetSubtype="0" fill="hold" nodeType="with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400"/>
                                        <p:tgtEl>
                                          <p:spTgt spid="1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400"/>
                                        <p:tgtEl>
                                          <p:spTgt spid="1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400"/>
                                        <p:tgtEl>
                                          <p:spTgt spid="17"/>
                                        </p:tgtEl>
                                      </p:cBhvr>
                                    </p:animEffect>
                                  </p:childTnLst>
                                </p:cTn>
                              </p:par>
                              <p:par>
                                <p:cTn id="85" presetID="10" presetClass="entr" presetSubtype="0" fill="hold"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400"/>
                                        <p:tgtEl>
                                          <p:spTgt spid="18"/>
                                        </p:tgtEl>
                                      </p:cBhvr>
                                    </p:animEffect>
                                  </p:childTnLst>
                                </p:cTn>
                              </p:par>
                              <p:par>
                                <p:cTn id="88" presetID="10" presetClass="entr" presetSubtype="0" fill="hold" nodeType="with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400"/>
                                        <p:tgtEl>
                                          <p:spTgt spid="1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400"/>
                                        <p:tgtEl>
                                          <p:spTgt spid="2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400"/>
                                        <p:tgtEl>
                                          <p:spTgt spid="24"/>
                                        </p:tgtEl>
                                      </p:cBhvr>
                                    </p:animEffect>
                                  </p:childTnLst>
                                </p:cTn>
                              </p:par>
                              <p:par>
                                <p:cTn id="97" presetID="10" presetClass="entr" presetSubtype="0" fill="hold" nodeType="withEffect">
                                  <p:stCondLst>
                                    <p:cond delay="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00"/>
                                        <p:tgtEl>
                                          <p:spTgt spid="25"/>
                                        </p:tgtEl>
                                      </p:cBhvr>
                                    </p:animEffect>
                                  </p:childTnLst>
                                </p:cTn>
                              </p:par>
                              <p:par>
                                <p:cTn id="100" presetID="10" presetClass="entr" presetSubtype="0" fill="hold"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400"/>
                                        <p:tgtEl>
                                          <p:spTgt spid="2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5" dur="400"/>
                                        <p:tgtEl>
                                          <p:spTgt spid="2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1"/>
                                        </p:tgtEl>
                                        <p:attrNameLst>
                                          <p:attrName>style.visibility</p:attrName>
                                        </p:attrNameLst>
                                      </p:cBhvr>
                                      <p:to>
                                        <p:strVal val="visible"/>
                                      </p:to>
                                    </p:set>
                                    <p:animEffect transition="in" filter="fade">
                                      <p:cBhvr>
                                        <p:cTn id="108" dur="400"/>
                                        <p:tgtEl>
                                          <p:spTgt spid="31"/>
                                        </p:tgtEl>
                                      </p:cBhvr>
                                    </p:animEffect>
                                  </p:childTnLst>
                                </p:cTn>
                              </p:par>
                              <p:par>
                                <p:cTn id="109" presetID="10" presetClass="entr" presetSubtype="0" fill="hold" nodeType="withEffect">
                                  <p:stCondLst>
                                    <p:cond delay="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400"/>
                                        <p:tgtEl>
                                          <p:spTgt spid="32"/>
                                        </p:tgtEl>
                                      </p:cBhvr>
                                    </p:animEffect>
                                  </p:childTnLst>
                                </p:cTn>
                              </p:par>
                              <p:par>
                                <p:cTn id="112" presetID="10" presetClass="entr" presetSubtype="0" fill="hold" nodeType="withEffect">
                                  <p:stCondLst>
                                    <p:cond delay="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400"/>
                                        <p:tgtEl>
                                          <p:spTgt spid="3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400"/>
                                        <p:tgtEl>
                                          <p:spTgt spid="3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400"/>
                                        <p:tgtEl>
                                          <p:spTgt spid="37"/>
                                        </p:tgtEl>
                                      </p:cBhvr>
                                    </p:animEffect>
                                  </p:childTnLst>
                                </p:cTn>
                              </p:par>
                              <p:par>
                                <p:cTn id="121" presetID="10" presetClass="entr" presetSubtype="0" fill="hold" nodeType="with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400"/>
                                        <p:tgtEl>
                                          <p:spTgt spid="38"/>
                                        </p:tgtEl>
                                      </p:cBhvr>
                                    </p:animEffect>
                                  </p:childTnLst>
                                </p:cTn>
                              </p:par>
                              <p:par>
                                <p:cTn id="124" presetID="10" presetClass="entr" presetSubtype="0" fill="hold" nodeType="withEffect">
                                  <p:stCondLst>
                                    <p:cond delay="0"/>
                                  </p:stCondLst>
                                  <p:childTnLst>
                                    <p:set>
                                      <p:cBhvr>
                                        <p:cTn id="125" dur="1" fill="hold">
                                          <p:stCondLst>
                                            <p:cond delay="0"/>
                                          </p:stCondLst>
                                        </p:cTn>
                                        <p:tgtEl>
                                          <p:spTgt spid="39"/>
                                        </p:tgtEl>
                                        <p:attrNameLst>
                                          <p:attrName>style.visibility</p:attrName>
                                        </p:attrNameLst>
                                      </p:cBhvr>
                                      <p:to>
                                        <p:strVal val="visible"/>
                                      </p:to>
                                    </p:set>
                                    <p:animEffect transition="in" filter="fade">
                                      <p:cBhvr>
                                        <p:cTn id="126" dur="400"/>
                                        <p:tgtEl>
                                          <p:spTgt spid="39"/>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9" dur="400"/>
                                        <p:tgtEl>
                                          <p:spTgt spid="40"/>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fade">
                                      <p:cBhvr>
                                        <p:cTn id="132" dur="400"/>
                                        <p:tgtEl>
                                          <p:spTgt spid="44"/>
                                        </p:tgtEl>
                                      </p:cBhvr>
                                    </p:animEffect>
                                  </p:childTnLst>
                                </p:cTn>
                              </p:par>
                              <p:par>
                                <p:cTn id="133" presetID="10" presetClass="entr" presetSubtype="0" fill="hold" nodeType="withEffect">
                                  <p:stCondLst>
                                    <p:cond delay="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400"/>
                                        <p:tgtEl>
                                          <p:spTgt spid="4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6"/>
                                        </p:tgtEl>
                                        <p:attrNameLst>
                                          <p:attrName>style.visibility</p:attrName>
                                        </p:attrNameLst>
                                      </p:cBhvr>
                                      <p:to>
                                        <p:strVal val="visible"/>
                                      </p:to>
                                    </p:set>
                                    <p:animEffect transition="in" filter="fade">
                                      <p:cBhvr>
                                        <p:cTn id="138"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9" grpId="0"/>
      <p:bldP spid="12" grpId="0"/>
      <p:bldP spid="13" grpId="0"/>
      <p:bldP spid="16" grpId="0"/>
      <p:bldP spid="17" grpId="0"/>
      <p:bldP spid="20" grpId="0"/>
      <p:bldP spid="21" grpId="0"/>
      <p:bldP spid="23" grpId="0"/>
      <p:bldP spid="24" grpId="0"/>
      <p:bldP spid="27" grpId="0"/>
      <p:bldP spid="28" grpId="0"/>
      <p:bldP spid="30" grpId="0"/>
      <p:bldP spid="31" grpId="0"/>
      <p:bldP spid="34" grpId="0"/>
      <p:bldP spid="35" grpId="0"/>
      <p:bldP spid="36" grpId="0"/>
      <p:bldP spid="37" grpId="0"/>
      <p:bldP spid="40" grpId="0"/>
      <p:bldP spid="41" grpId="0"/>
      <p:bldP spid="43" grpId="0"/>
      <p:bldP spid="44" grpId="0"/>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822960" y="2011680"/>
            <a:ext cx="10515600" cy="1645920"/>
          </a:xfrm>
          <a:prstGeom prst="rect">
            <a:avLst/>
          </a:prstGeom>
          <a:noFill/>
        </p:spPr>
        <p:txBody>
          <a:bodyPr wrap="square" lIns="45720" rIns="45720" anchor="t">
            <a:spAutoFit/>
          </a:bodyPr>
          <a:lstStyle/>
          <a:p>
            <a:pPr algn="l"/>
            <a:r>
              <a:rPr sz="10000" b="1" i="0">
                <a:solidFill>
                  <a:srgbClr val="FFD34E"/>
                </a:solidFill>
                <a:latin typeface="Calibri"/>
              </a:rPr>
              <a:t>LIVE DEMO</a:t>
            </a:r>
          </a:p>
        </p:txBody>
      </p:sp>
      <p:sp>
        <p:nvSpPr>
          <p:cNvPr id="3" name="TextBox 2"/>
          <p:cNvSpPr txBox="1"/>
          <p:nvPr/>
        </p:nvSpPr>
        <p:spPr>
          <a:xfrm>
            <a:off x="822960" y="4023360"/>
            <a:ext cx="10515600" cy="914400"/>
          </a:xfrm>
          <a:prstGeom prst="rect">
            <a:avLst/>
          </a:prstGeom>
          <a:noFill/>
        </p:spPr>
        <p:txBody>
          <a:bodyPr wrap="square" lIns="45720" rIns="45720" anchor="t">
            <a:spAutoFit/>
          </a:bodyPr>
          <a:lstStyle/>
          <a:p>
            <a:pPr algn="l"/>
            <a:r>
              <a:rPr sz="3400" b="0" i="0">
                <a:solidFill>
                  <a:srgbClr val="9FB3CF"/>
                </a:solidFill>
                <a:latin typeface="Calibri"/>
              </a:rPr>
              <a:t>Gulf Crown: the $140k promise nobody could find</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TRUST, BUT VERIFY  |  EVIDENCE</a:t>
            </a:r>
          </a:p>
        </p:txBody>
      </p:sp>
      <p:sp>
        <p:nvSpPr>
          <p:cNvPr id="3" name="r1"/>
          <p:cNvSpPr/>
          <p:nvPr/>
        </p:nvSpPr>
        <p:spPr>
          <a:xfrm>
            <a:off x="548640" y="1554480"/>
            <a:ext cx="2651760" cy="3291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5400" b="1">
                <a:solidFill>
                  <a:srgbClr val="3DDC97"/>
                </a:solidFill>
                <a:latin typeface="Calibri"/>
              </a:rPr>
              <a:t>24 / 24</a:t>
            </a:r>
          </a:p>
          <a:p>
            <a:pPr algn="ctr"/>
            <a:r>
              <a:rPr sz="2200">
                <a:solidFill>
                  <a:srgbClr val="9FB3CF"/>
                </a:solidFill>
                <a:latin typeface="Calibri"/>
              </a:rPr>
              <a:t>known risks found</a:t>
            </a:r>
          </a:p>
        </p:txBody>
      </p:sp>
      <p:sp>
        <p:nvSpPr>
          <p:cNvPr id="4" name="r2"/>
          <p:cNvSpPr/>
          <p:nvPr/>
        </p:nvSpPr>
        <p:spPr>
          <a:xfrm>
            <a:off x="3383280" y="1554480"/>
            <a:ext cx="2651760" cy="3291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5400" b="1">
                <a:solidFill>
                  <a:srgbClr val="3DDC97"/>
                </a:solidFill>
                <a:latin typeface="Calibri"/>
              </a:rPr>
              <a:t>88%</a:t>
            </a:r>
          </a:p>
          <a:p>
            <a:pPr algn="ctr"/>
            <a:r>
              <a:rPr sz="2200">
                <a:solidFill>
                  <a:srgbClr val="9FB3CF"/>
                </a:solidFill>
                <a:latin typeface="Calibri"/>
              </a:rPr>
              <a:t>serious findings valid (rated by me)</a:t>
            </a:r>
          </a:p>
        </p:txBody>
      </p:sp>
      <p:sp>
        <p:nvSpPr>
          <p:cNvPr id="5" name="r3"/>
          <p:cNvSpPr/>
          <p:nvPr/>
        </p:nvSpPr>
        <p:spPr>
          <a:xfrm>
            <a:off x="6217920" y="1554480"/>
            <a:ext cx="2651760" cy="3291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5400" b="1">
                <a:solidFill>
                  <a:srgbClr val="3DDC97"/>
                </a:solidFill>
                <a:latin typeface="Calibri"/>
              </a:rPr>
              <a:t>7 / 7</a:t>
            </a:r>
          </a:p>
          <a:p>
            <a:pPr algn="ctr"/>
            <a:r>
              <a:rPr sz="2200">
                <a:solidFill>
                  <a:srgbClr val="9FB3CF"/>
                </a:solidFill>
                <a:latin typeface="Calibri"/>
              </a:rPr>
              <a:t>injection attacks stopped</a:t>
            </a:r>
          </a:p>
        </p:txBody>
      </p:sp>
      <p:sp>
        <p:nvSpPr>
          <p:cNvPr id="6" name="r4"/>
          <p:cNvSpPr/>
          <p:nvPr/>
        </p:nvSpPr>
        <p:spPr>
          <a:xfrm>
            <a:off x="9052560" y="1554480"/>
            <a:ext cx="2651760" cy="3291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5400" b="1">
                <a:solidFill>
                  <a:srgbClr val="FFFFFF"/>
                </a:solidFill>
                <a:latin typeface="Calibri"/>
              </a:rPr>
              <a:t>$0.05</a:t>
            </a:r>
          </a:p>
          <a:p>
            <a:pPr algn="ctr"/>
            <a:r>
              <a:rPr sz="2200">
                <a:solidFill>
                  <a:srgbClr val="9FB3CF"/>
                </a:solidFill>
                <a:latin typeface="Calibri"/>
              </a:rPr>
              <a:t>per review, about 20 seconds</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THE BUSINESS CASE  |  TODAY → WITH CONTRACTGUARD</a:t>
            </a:r>
          </a:p>
        </p:txBody>
      </p:sp>
      <p:sp>
        <p:nvSpPr>
          <p:cNvPr id="3" name="r1"/>
          <p:cNvSpPr/>
          <p:nvPr/>
        </p:nvSpPr>
        <p:spPr>
          <a:xfrm>
            <a:off x="548640" y="1188720"/>
            <a:ext cx="548640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6000" b="1">
                <a:solidFill>
                  <a:srgbClr val="FFFFFF"/>
                </a:solidFill>
                <a:latin typeface="Calibri"/>
              </a:rPr>
              <a:t>25 h → 6 h</a:t>
            </a:r>
          </a:p>
          <a:p>
            <a:pPr algn="ctr"/>
            <a:r>
              <a:rPr sz="2200">
                <a:solidFill>
                  <a:srgbClr val="9FB3CF"/>
                </a:solidFill>
                <a:latin typeface="Calibri"/>
              </a:rPr>
              <a:t>reviewer time a month  (76% less)</a:t>
            </a:r>
          </a:p>
        </p:txBody>
      </p:sp>
      <p:sp>
        <p:nvSpPr>
          <p:cNvPr id="4" name="r2"/>
          <p:cNvSpPr/>
          <p:nvPr/>
        </p:nvSpPr>
        <p:spPr>
          <a:xfrm>
            <a:off x="6217920" y="1188720"/>
            <a:ext cx="548640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6000" b="1">
                <a:solidFill>
                  <a:srgbClr val="FFFFFF"/>
                </a:solidFill>
                <a:latin typeface="Calibri"/>
              </a:rPr>
              <a:t>$1,924 → $815</a:t>
            </a:r>
          </a:p>
          <a:p>
            <a:pPr algn="ctr"/>
            <a:r>
              <a:rPr sz="2200">
                <a:solidFill>
                  <a:srgbClr val="9FB3CF"/>
                </a:solidFill>
                <a:latin typeface="Calibri"/>
              </a:rPr>
              <a:t>monthly cost  (58% less, about $1,100 saved)</a:t>
            </a:r>
          </a:p>
        </p:txBody>
      </p:sp>
      <p:sp>
        <p:nvSpPr>
          <p:cNvPr id="5" name="r3"/>
          <p:cNvSpPr/>
          <p:nvPr/>
        </p:nvSpPr>
        <p:spPr>
          <a:xfrm>
            <a:off x="548640" y="3474720"/>
            <a:ext cx="548640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5400" b="1">
                <a:solidFill>
                  <a:srgbClr val="FFFFFF"/>
                </a:solidFill>
                <a:latin typeface="Calibri"/>
              </a:rPr>
              <a:t>2–8 h → &lt;5 min</a:t>
            </a:r>
          </a:p>
          <a:p>
            <a:pPr algn="ctr"/>
            <a:r>
              <a:rPr sz="2200">
                <a:solidFill>
                  <a:srgbClr val="9FB3CF"/>
                </a:solidFill>
                <a:latin typeface="Calibri"/>
              </a:rPr>
              <a:t>per contract  (client target: under 5 minutes)</a:t>
            </a:r>
          </a:p>
        </p:txBody>
      </p:sp>
      <p:sp>
        <p:nvSpPr>
          <p:cNvPr id="6" name="r4"/>
          <p:cNvSpPr/>
          <p:nvPr/>
        </p:nvSpPr>
        <p:spPr>
          <a:xfrm>
            <a:off x="6217920" y="3474720"/>
            <a:ext cx="5486400" cy="21031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6000" b="1">
                <a:solidFill>
                  <a:srgbClr val="3DDC97"/>
                </a:solidFill>
                <a:latin typeface="Calibri"/>
              </a:rPr>
              <a:t>$0.05</a:t>
            </a:r>
          </a:p>
          <a:p>
            <a:pPr algn="ctr"/>
            <a:r>
              <a:rPr sz="2200">
                <a:solidFill>
                  <a:srgbClr val="9FB3CF"/>
                </a:solidFill>
                <a:latin typeface="Calibri"/>
              </a:rPr>
              <a:t>AI cost per review  ($0.78 a month)</a:t>
            </a:r>
          </a:p>
        </p:txBody>
      </p:sp>
      <p:sp>
        <p:nvSpPr>
          <p:cNvPr id="7" name="TextBox 6"/>
          <p:cNvSpPr txBox="1"/>
          <p:nvPr/>
        </p:nvSpPr>
        <p:spPr>
          <a:xfrm>
            <a:off x="548640" y="5852160"/>
            <a:ext cx="11064240" cy="457200"/>
          </a:xfrm>
          <a:prstGeom prst="rect">
            <a:avLst/>
          </a:prstGeom>
          <a:noFill/>
        </p:spPr>
        <p:txBody>
          <a:bodyPr wrap="square" lIns="45720" rIns="45720" anchor="t">
            <a:spAutoFit/>
          </a:bodyPr>
          <a:lstStyle/>
          <a:p>
            <a:pPr algn="l"/>
            <a:r>
              <a:rPr sz="1800" b="0" i="1">
                <a:solidFill>
                  <a:srgbClr val="9FB3CF"/>
                </a:solidFill>
                <a:latin typeface="Calibri"/>
              </a:rPr>
              <a:t>Modelled on assumptions; the pilot measures them.</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NORTH STAR AND THE THREE FLOORS</a:t>
            </a:r>
          </a:p>
        </p:txBody>
      </p:sp>
      <p:sp>
        <p:nvSpPr>
          <p:cNvPr id="3" name="r1"/>
          <p:cNvSpPr/>
          <p:nvPr/>
        </p:nvSpPr>
        <p:spPr>
          <a:xfrm>
            <a:off x="731520" y="1097280"/>
            <a:ext cx="10698480" cy="1554480"/>
          </a:xfrm>
          <a:prstGeom prst="roundRect">
            <a:avLst>
              <a:gd name="adj" fmla="val 10000"/>
            </a:avLst>
          </a:prstGeom>
          <a:solidFill>
            <a:srgbClr val="22375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800" b="1">
                <a:solidFill>
                  <a:srgbClr val="3DDC97"/>
                </a:solidFill>
                <a:latin typeface="Calibri"/>
              </a:rPr>
              <a:t>Trusted Review Rate:  90%</a:t>
            </a:r>
          </a:p>
          <a:p>
            <a:pPr algn="ctr"/>
            <a:r>
              <a:rPr sz="2400">
                <a:solidFill>
                  <a:srgbClr val="9FB3CF"/>
                </a:solidFill>
                <a:latin typeface="Calibri"/>
              </a:rPr>
              <a:t>complete  •  verified  •  nothing missed  •  under 5 minutes</a:t>
            </a:r>
          </a:p>
        </p:txBody>
      </p:sp>
      <p:sp>
        <p:nvSpPr>
          <p:cNvPr id="4" name="r4"/>
          <p:cNvSpPr/>
          <p:nvPr/>
        </p:nvSpPr>
        <p:spPr>
          <a:xfrm>
            <a:off x="731520" y="2834640"/>
            <a:ext cx="10698480" cy="9144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600" b="1">
                <a:solidFill>
                  <a:srgbClr val="FFFFFF"/>
                </a:solidFill>
                <a:latin typeface="Calibri"/>
              </a:rPr>
              <a:t>Business:  zero deals lost to the queue  •  25 h → 6 h</a:t>
            </a:r>
          </a:p>
        </p:txBody>
      </p:sp>
      <p:sp>
        <p:nvSpPr>
          <p:cNvPr id="5" name="r3"/>
          <p:cNvSpPr/>
          <p:nvPr/>
        </p:nvSpPr>
        <p:spPr>
          <a:xfrm>
            <a:off x="731520" y="3931920"/>
            <a:ext cx="10698480" cy="9144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600" b="1">
                <a:solidFill>
                  <a:srgbClr val="FFFFFF"/>
                </a:solidFill>
                <a:latin typeface="Calibri"/>
              </a:rPr>
              <a:t>Adoption:  90% of contracts used  •  100% of serious findings answered</a:t>
            </a:r>
          </a:p>
        </p:txBody>
      </p:sp>
      <p:sp>
        <p:nvSpPr>
          <p:cNvPr id="6" name="r2"/>
          <p:cNvSpPr/>
          <p:nvPr/>
        </p:nvSpPr>
        <p:spPr>
          <a:xfrm>
            <a:off x="731520" y="5029200"/>
            <a:ext cx="10698480" cy="9144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600" b="1">
                <a:solidFill>
                  <a:srgbClr val="FFFFFF"/>
                </a:solidFill>
                <a:latin typeface="Calibri"/>
              </a:rPr>
              <a:t>AI quality:  100% recall  •  every quote verified  •  under 5 minutes</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SAFETY AND GUARDRAILS</a:t>
            </a:r>
          </a:p>
        </p:txBody>
      </p:sp>
      <p:sp>
        <p:nvSpPr>
          <p:cNvPr id="3" name="r1"/>
          <p:cNvSpPr/>
          <p:nvPr/>
        </p:nvSpPr>
        <p:spPr>
          <a:xfrm>
            <a:off x="731520" y="1097280"/>
            <a:ext cx="3383280" cy="201168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400" b="1">
                <a:solidFill>
                  <a:srgbClr val="FFFFFF"/>
                </a:solidFill>
                <a:latin typeface="Calibri"/>
              </a:rPr>
              <a:t>Never signs</a:t>
            </a:r>
          </a:p>
          <a:p>
            <a:pPr algn="ctr"/>
            <a:r>
              <a:rPr sz="2200">
                <a:solidFill>
                  <a:srgbClr val="9FB3CF"/>
                </a:solidFill>
                <a:latin typeface="Calibri"/>
              </a:rPr>
              <a:t>no external action exists</a:t>
            </a:r>
          </a:p>
        </p:txBody>
      </p:sp>
      <p:sp>
        <p:nvSpPr>
          <p:cNvPr id="4" name="r2"/>
          <p:cNvSpPr/>
          <p:nvPr/>
        </p:nvSpPr>
        <p:spPr>
          <a:xfrm>
            <a:off x="4389120" y="1097280"/>
            <a:ext cx="3383280" cy="201168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400" b="1">
                <a:solidFill>
                  <a:srgbClr val="FFFFFF"/>
                </a:solidFill>
                <a:latin typeface="Calibri"/>
              </a:rPr>
              <a:t>Every quote verified</a:t>
            </a:r>
          </a:p>
          <a:p>
            <a:pPr algn="ctr"/>
            <a:r>
              <a:rPr sz="2200">
                <a:solidFill>
                  <a:srgbClr val="9FB3CF"/>
                </a:solidFill>
                <a:latin typeface="Calibri"/>
              </a:rPr>
              <a:t>or "Not sure"</a:t>
            </a:r>
          </a:p>
        </p:txBody>
      </p:sp>
      <p:sp>
        <p:nvSpPr>
          <p:cNvPr id="5" name="r3"/>
          <p:cNvSpPr/>
          <p:nvPr/>
        </p:nvSpPr>
        <p:spPr>
          <a:xfrm>
            <a:off x="8046720" y="1097280"/>
            <a:ext cx="3383280" cy="2011680"/>
          </a:xfrm>
          <a:prstGeom prst="roundRect">
            <a:avLst>
              <a:gd name="adj" fmla="val 10000"/>
            </a:avLst>
          </a:prstGeom>
          <a:solidFill>
            <a:srgbClr val="22375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400" b="1">
                <a:solidFill>
                  <a:srgbClr val="3DDC97"/>
                </a:solidFill>
                <a:latin typeface="Calibri"/>
              </a:rPr>
              <a:t>A person decides</a:t>
            </a:r>
          </a:p>
          <a:p>
            <a:pPr algn="ctr"/>
            <a:r>
              <a:rPr sz="2200">
                <a:solidFill>
                  <a:srgbClr val="9FB3CF"/>
                </a:solidFill>
                <a:latin typeface="Calibri"/>
              </a:rPr>
              <a:t>reason for serious risks</a:t>
            </a:r>
          </a:p>
        </p:txBody>
      </p:sp>
      <p:sp>
        <p:nvSpPr>
          <p:cNvPr id="6" name="r4"/>
          <p:cNvSpPr/>
          <p:nvPr/>
        </p:nvSpPr>
        <p:spPr>
          <a:xfrm>
            <a:off x="731520" y="3383280"/>
            <a:ext cx="10698480" cy="1554480"/>
          </a:xfrm>
          <a:prstGeom prst="roundRect">
            <a:avLst>
              <a:gd name="adj" fmla="val 10000"/>
            </a:avLst>
          </a:prstGeom>
          <a:solidFill>
            <a:srgbClr val="FF5A4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000" b="1">
                <a:solidFill>
                  <a:srgbClr val="FFFFFF"/>
                </a:solidFill>
                <a:latin typeface="Calibri"/>
              </a:rPr>
              <a:t>Kill switch → back to manual</a:t>
            </a:r>
          </a:p>
          <a:p>
            <a:pPr algn="ctr"/>
            <a:r>
              <a:rPr sz="2600">
                <a:solidFill>
                  <a:srgbClr val="FFFFFF"/>
                </a:solidFill>
                <a:latin typeface="Calibri"/>
              </a:rPr>
              <a:t>if it says "safe to sign", shows an unverified quote, or leaks data</a:t>
            </a:r>
          </a:p>
        </p:txBody>
      </p:sp>
      <p:sp>
        <p:nvSpPr>
          <p:cNvPr id="7" name="r5"/>
          <p:cNvSpPr txBox="1"/>
          <p:nvPr/>
        </p:nvSpPr>
        <p:spPr>
          <a:xfrm>
            <a:off x="731520" y="5303520"/>
            <a:ext cx="10698480" cy="822960"/>
          </a:xfrm>
          <a:prstGeom prst="rect">
            <a:avLst/>
          </a:prstGeom>
          <a:noFill/>
        </p:spPr>
        <p:txBody>
          <a:bodyPr wrap="square" lIns="45720" rIns="45720" anchor="t">
            <a:spAutoFit/>
          </a:bodyPr>
          <a:lstStyle/>
          <a:p>
            <a:pPr algn="l"/>
            <a:r>
              <a:rPr sz="2200" b="0" i="0">
                <a:solidFill>
                  <a:srgbClr val="FFA630"/>
                </a:solidFill>
                <a:latin typeface="Calibri"/>
              </a:rPr>
              <a:t>Before real contracts:  privacy (masking, no-training terms)  •  governance (DPDP Act, GDPR)</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THE ASK  |  10:47 PM</a:t>
            </a:r>
          </a:p>
        </p:txBody>
      </p:sp>
      <p:sp>
        <p:nvSpPr>
          <p:cNvPr id="3" name="r1"/>
          <p:cNvSpPr txBox="1"/>
          <p:nvPr/>
        </p:nvSpPr>
        <p:spPr>
          <a:xfrm>
            <a:off x="822960" y="1005840"/>
            <a:ext cx="10515600" cy="1645920"/>
          </a:xfrm>
          <a:prstGeom prst="rect">
            <a:avLst/>
          </a:prstGeom>
          <a:noFill/>
        </p:spPr>
        <p:txBody>
          <a:bodyPr wrap="square" lIns="45720" rIns="45720" anchor="t">
            <a:spAutoFit/>
          </a:bodyPr>
          <a:lstStyle/>
          <a:p>
            <a:pPr algn="l"/>
            <a:r>
              <a:rPr sz="9000" b="1" i="0">
                <a:solidFill>
                  <a:srgbClr val="3DDC97"/>
                </a:solidFill>
                <a:latin typeface="Calibri"/>
              </a:rPr>
              <a:t>8-week pilot</a:t>
            </a:r>
          </a:p>
        </p:txBody>
      </p:sp>
      <p:sp>
        <p:nvSpPr>
          <p:cNvPr id="4" name="r2"/>
          <p:cNvSpPr/>
          <p:nvPr/>
        </p:nvSpPr>
        <p:spPr>
          <a:xfrm>
            <a:off x="822960" y="2834640"/>
            <a:ext cx="5029200" cy="128016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400" b="1">
                <a:solidFill>
                  <a:srgbClr val="FFFFFF"/>
                </a:solidFill>
                <a:latin typeface="Calibri"/>
              </a:rPr>
              <a:t>Shadow mode</a:t>
            </a:r>
          </a:p>
          <a:p>
            <a:pPr algn="ctr"/>
            <a:r>
              <a:rPr sz="2200">
                <a:solidFill>
                  <a:srgbClr val="9FB3CF"/>
                </a:solidFill>
                <a:latin typeface="Calibri"/>
              </a:rPr>
              <a:t>beside the manual review</a:t>
            </a:r>
          </a:p>
        </p:txBody>
      </p:sp>
      <p:sp>
        <p:nvSpPr>
          <p:cNvPr id="5" name="r3"/>
          <p:cNvSpPr/>
          <p:nvPr/>
        </p:nvSpPr>
        <p:spPr>
          <a:xfrm>
            <a:off x="6217920" y="2834640"/>
            <a:ext cx="5029200" cy="128016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400" b="1">
                <a:solidFill>
                  <a:srgbClr val="FFFFFF"/>
                </a:solidFill>
                <a:latin typeface="Calibri"/>
              </a:rPr>
              <a:t>Closed beta</a:t>
            </a:r>
          </a:p>
          <a:p>
            <a:pPr algn="ctr"/>
            <a:r>
              <a:rPr sz="2200">
                <a:solidFill>
                  <a:srgbClr val="9FB3CF"/>
                </a:solidFill>
                <a:latin typeface="Calibri"/>
              </a:rPr>
              <a:t>Karandeep and Dhaval</a:t>
            </a:r>
          </a:p>
        </p:txBody>
      </p:sp>
      <p:sp>
        <p:nvSpPr>
          <p:cNvPr id="6" name="r4"/>
          <p:cNvSpPr/>
          <p:nvPr/>
        </p:nvSpPr>
        <p:spPr>
          <a:xfrm>
            <a:off x="822960" y="4389120"/>
            <a:ext cx="10424160" cy="1005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FFFF"/>
                </a:solidFill>
                <a:latin typeface="Calibri"/>
              </a:rPr>
              <a:t>Needs:  principles confirmed  •  one register reviewer  •  a few live contracts</a:t>
            </a:r>
          </a:p>
        </p:txBody>
      </p:sp>
      <p:sp>
        <p:nvSpPr>
          <p:cNvPr id="7" name="r5"/>
          <p:cNvSpPr txBox="1"/>
          <p:nvPr/>
        </p:nvSpPr>
        <p:spPr>
          <a:xfrm>
            <a:off x="822960" y="5669280"/>
            <a:ext cx="10424160" cy="822960"/>
          </a:xfrm>
          <a:prstGeom prst="rect">
            <a:avLst/>
          </a:prstGeom>
          <a:noFill/>
        </p:spPr>
        <p:txBody>
          <a:bodyPr wrap="square" lIns="45720" rIns="45720" anchor="t">
            <a:spAutoFit/>
          </a:bodyPr>
          <a:lstStyle/>
          <a:p>
            <a:pPr algn="l"/>
            <a:r>
              <a:rPr sz="3400" b="1" i="0">
                <a:solidFill>
                  <a:srgbClr val="5BA8FF"/>
                </a:solidFill>
                <a:latin typeface="Calibri"/>
              </a:rPr>
              <a:t>"Five minutes, not an evening. And I still decide."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822960" y="2286000"/>
            <a:ext cx="10515600" cy="1828800"/>
          </a:xfrm>
          <a:prstGeom prst="rect">
            <a:avLst/>
          </a:prstGeom>
          <a:noFill/>
        </p:spPr>
        <p:txBody>
          <a:bodyPr wrap="square" lIns="45720" rIns="45720" anchor="t">
            <a:spAutoFit/>
          </a:bodyPr>
          <a:lstStyle/>
          <a:p>
            <a:pPr algn="ctr"/>
            <a:r>
              <a:rPr sz="10000" b="1" i="0">
                <a:solidFill>
                  <a:srgbClr val="FFFFFF"/>
                </a:solidFill>
                <a:latin typeface="Calibri"/>
              </a:rPr>
              <a:t>Thank you</a:t>
            </a:r>
          </a:p>
        </p:txBody>
      </p:sp>
      <p:sp>
        <p:nvSpPr>
          <p:cNvPr id="3" name="TextBox 2"/>
          <p:cNvSpPr txBox="1"/>
          <p:nvPr/>
        </p:nvSpPr>
        <p:spPr>
          <a:xfrm>
            <a:off x="822960" y="4297680"/>
            <a:ext cx="10515600" cy="914400"/>
          </a:xfrm>
          <a:prstGeom prst="rect">
            <a:avLst/>
          </a:prstGeom>
          <a:noFill/>
        </p:spPr>
        <p:txBody>
          <a:bodyPr wrap="square" lIns="45720" rIns="45720" anchor="t">
            <a:spAutoFit/>
          </a:bodyPr>
          <a:lstStyle/>
          <a:p>
            <a:pPr algn="ctr"/>
            <a:r>
              <a:rPr sz="4000" b="0" i="0">
                <a:solidFill>
                  <a:srgbClr val="9FB3CF"/>
                </a:solidFill>
                <a:latin typeface="Calibri"/>
              </a:rPr>
              <a:t>Questions?</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822960" y="2194560"/>
            <a:ext cx="10058400" cy="1280160"/>
          </a:xfrm>
          <a:prstGeom prst="rect">
            <a:avLst/>
          </a:prstGeom>
          <a:noFill/>
        </p:spPr>
        <p:txBody>
          <a:bodyPr wrap="square" lIns="45720" rIns="45720" anchor="t">
            <a:spAutoFit/>
          </a:bodyPr>
          <a:lstStyle/>
          <a:p>
            <a:pPr algn="l"/>
            <a:r>
              <a:rPr sz="8000" b="1" i="0">
                <a:solidFill>
                  <a:srgbClr val="FFFFFF"/>
                </a:solidFill>
                <a:latin typeface="Calibri"/>
              </a:rPr>
              <a:t>Appendix</a:t>
            </a:r>
          </a:p>
        </p:txBody>
      </p:sp>
      <p:sp>
        <p:nvSpPr>
          <p:cNvPr id="3" name="TextBox 2"/>
          <p:cNvSpPr txBox="1"/>
          <p:nvPr/>
        </p:nvSpPr>
        <p:spPr>
          <a:xfrm>
            <a:off x="822960" y="3840480"/>
            <a:ext cx="10058400" cy="1097280"/>
          </a:xfrm>
          <a:prstGeom prst="rect">
            <a:avLst/>
          </a:prstGeom>
          <a:noFill/>
        </p:spPr>
        <p:txBody>
          <a:bodyPr wrap="square" lIns="45720" rIns="45720" anchor="t">
            <a:spAutoFit/>
          </a:bodyPr>
          <a:lstStyle/>
          <a:p>
            <a:pPr algn="l"/>
            <a:r>
              <a:rPr sz="2600" b="0" i="0">
                <a:solidFill>
                  <a:srgbClr val="9FB3CF"/>
                </a:solidFill>
                <a:latin typeface="Calibri"/>
              </a:rPr>
              <a:t>Guardrails  •  Responsible AI  •  Evals  •  Moat  •  Cost</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APPENDIX  |  GUARDRAILS</a:t>
            </a:r>
          </a:p>
        </p:txBody>
      </p:sp>
      <p:sp>
        <p:nvSpPr>
          <p:cNvPr id="3" name="TextBox 2"/>
          <p:cNvSpPr txBox="1"/>
          <p:nvPr/>
        </p:nvSpPr>
        <p:spPr>
          <a:xfrm>
            <a:off x="548640" y="777240"/>
            <a:ext cx="11064240" cy="822960"/>
          </a:xfrm>
          <a:prstGeom prst="rect">
            <a:avLst/>
          </a:prstGeom>
          <a:noFill/>
        </p:spPr>
        <p:txBody>
          <a:bodyPr wrap="square" lIns="45720" rIns="45720" anchor="t">
            <a:spAutoFit/>
          </a:bodyPr>
          <a:lstStyle/>
          <a:p>
            <a:pPr algn="l"/>
            <a:r>
              <a:rPr sz="2600" b="1" i="0">
                <a:solidFill>
                  <a:srgbClr val="FFFFFF"/>
                </a:solidFill>
                <a:latin typeface="Calibri"/>
              </a:rPr>
              <a:t>Guardrails sit before the model, after it, and around the decision</a:t>
            </a:r>
          </a:p>
        </p:txBody>
      </p:sp>
      <p:sp>
        <p:nvSpPr>
          <p:cNvPr id="4" name="Rounded Rectangle 3"/>
          <p:cNvSpPr/>
          <p:nvPr/>
        </p:nvSpPr>
        <p:spPr>
          <a:xfrm>
            <a:off x="502920" y="1737360"/>
            <a:ext cx="2103120" cy="155448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latin typeface="Calibri"/>
              </a:rPr>
              <a:t>Contract and notes</a:t>
            </a:r>
          </a:p>
          <a:p>
            <a:pPr algn="ctr"/>
            <a:r>
              <a:rPr sz="1300">
                <a:solidFill>
                  <a:srgbClr val="9FB3CF"/>
                </a:solidFill>
                <a:latin typeface="Calibri"/>
              </a:rPr>
              <a:t>untrusted text</a:t>
            </a:r>
          </a:p>
        </p:txBody>
      </p:sp>
      <p:sp>
        <p:nvSpPr>
          <p:cNvPr id="5" name="Rounded Rectangle 4"/>
          <p:cNvSpPr/>
          <p:nvPr/>
        </p:nvSpPr>
        <p:spPr>
          <a:xfrm>
            <a:off x="2788920" y="1737360"/>
            <a:ext cx="2103120" cy="155448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latin typeface="Calibri"/>
              </a:rPr>
              <a:t>Input guardrail</a:t>
            </a:r>
          </a:p>
          <a:p>
            <a:pPr algn="ctr"/>
            <a:r>
              <a:rPr sz="1300">
                <a:solidFill>
                  <a:srgbClr val="9FB3CF"/>
                </a:solidFill>
                <a:latin typeface="Calibri"/>
              </a:rPr>
              <a:t>screen hidden instructions; size and rate limits</a:t>
            </a:r>
          </a:p>
        </p:txBody>
      </p:sp>
      <p:sp>
        <p:nvSpPr>
          <p:cNvPr id="6" name="Rounded Rectangle 5"/>
          <p:cNvSpPr/>
          <p:nvPr/>
        </p:nvSpPr>
        <p:spPr>
          <a:xfrm>
            <a:off x="5074920" y="1737360"/>
            <a:ext cx="2103120" cy="155448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latin typeface="Calibri"/>
              </a:rPr>
              <a:t>AI model</a:t>
            </a:r>
          </a:p>
          <a:p>
            <a:pPr algn="ctr"/>
            <a:r>
              <a:rPr sz="1300">
                <a:solidFill>
                  <a:srgbClr val="9FB3CF"/>
                </a:solidFill>
                <a:latin typeface="Calibri"/>
              </a:rPr>
              <a:t>reads and proposes; no tools</a:t>
            </a:r>
          </a:p>
        </p:txBody>
      </p:sp>
      <p:sp>
        <p:nvSpPr>
          <p:cNvPr id="7" name="Rounded Rectangle 6"/>
          <p:cNvSpPr/>
          <p:nvPr/>
        </p:nvSpPr>
        <p:spPr>
          <a:xfrm>
            <a:off x="7360920" y="1737360"/>
            <a:ext cx="2103120" cy="155448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latin typeface="Calibri"/>
              </a:rPr>
              <a:t>Output guardrail</a:t>
            </a:r>
          </a:p>
          <a:p>
            <a:pPr algn="ctr"/>
            <a:r>
              <a:rPr sz="1300">
                <a:solidFill>
                  <a:srgbClr val="9FB3CF"/>
                </a:solidFill>
                <a:latin typeface="Calibri"/>
              </a:rPr>
              <a:t>quote verified; no "safe to sign"</a:t>
            </a:r>
          </a:p>
        </p:txBody>
      </p:sp>
      <p:sp>
        <p:nvSpPr>
          <p:cNvPr id="8" name="Rounded Rectangle 7"/>
          <p:cNvSpPr/>
          <p:nvPr/>
        </p:nvSpPr>
        <p:spPr>
          <a:xfrm>
            <a:off x="9646920" y="1737360"/>
            <a:ext cx="2103120" cy="1554480"/>
          </a:xfrm>
          <a:prstGeom prst="roundRect">
            <a:avLst>
              <a:gd name="adj" fmla="val 10000"/>
            </a:avLst>
          </a:prstGeom>
          <a:solidFill>
            <a:srgbClr val="22375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3DDC97"/>
                </a:solidFill>
                <a:latin typeface="Calibri"/>
              </a:rPr>
              <a:t>A person</a:t>
            </a:r>
          </a:p>
          <a:p>
            <a:pPr algn="ctr"/>
            <a:r>
              <a:rPr sz="1300">
                <a:solidFill>
                  <a:srgbClr val="9FB3CF"/>
                </a:solidFill>
                <a:latin typeface="Calibri"/>
              </a:rPr>
              <a:t>accepts with a reason, or defers</a:t>
            </a:r>
          </a:p>
        </p:txBody>
      </p:sp>
      <p:graphicFrame>
        <p:nvGraphicFramePr>
          <p:cNvPr id="9" name="Table 8"/>
          <p:cNvGraphicFramePr>
            <a:graphicFrameLocks noGrp="1"/>
          </p:cNvGraphicFramePr>
          <p:nvPr/>
        </p:nvGraphicFramePr>
        <p:xfrm>
          <a:off x="548640" y="3566160"/>
          <a:ext cx="11064240" cy="2523744"/>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20624">
                <a:tc>
                  <a:txBody>
                    <a:bodyPr/>
                    <a:lstStyle/>
                    <a:p>
                      <a:r>
                        <a:rPr sz="1200" b="1">
                          <a:solidFill>
                            <a:srgbClr val="FFFFFF"/>
                          </a:solidFill>
                          <a:latin typeface="Calibri"/>
                        </a:rPr>
                        <a:t>Hard rule, enforced in code</a:t>
                      </a:r>
                    </a:p>
                  </a:txBody>
                  <a:tcPr marL="73152" marR="73152" anchor="ctr">
                    <a:solidFill>
                      <a:srgbClr val="22375A"/>
                    </a:solidFill>
                  </a:tcPr>
                </a:tc>
                <a:tc>
                  <a:txBody>
                    <a:bodyPr/>
                    <a:lstStyle/>
                    <a:p>
                      <a:r>
                        <a:rPr sz="1200" b="1">
                          <a:solidFill>
                            <a:srgbClr val="FFFFFF"/>
                          </a:solidFill>
                          <a:latin typeface="Calibri"/>
                        </a:rPr>
                        <a:t>How</a:t>
                      </a:r>
                    </a:p>
                  </a:txBody>
                  <a:tcPr marL="73152" marR="73152" anchor="ctr">
                    <a:solidFill>
                      <a:srgbClr val="22375A"/>
                    </a:solidFill>
                  </a:tcPr>
                </a:tc>
                <a:tc>
                  <a:txBody>
                    <a:bodyPr/>
                    <a:lstStyle/>
                    <a:p>
                      <a:r>
                        <a:rPr sz="1200" b="1">
                          <a:solidFill>
                            <a:srgbClr val="FFFFFF"/>
                          </a:solidFill>
                          <a:latin typeface="Calibri"/>
                        </a:rPr>
                        <a:t>Tested by</a:t>
                      </a:r>
                    </a:p>
                  </a:txBody>
                  <a:tcPr marL="73152" marR="73152" anchor="ctr">
                    <a:solidFill>
                      <a:srgbClr val="22375A"/>
                    </a:solidFill>
                  </a:tcPr>
                </a:tc>
                <a:extLst>
                  <a:ext uri="{0D108BD9-81ED-4DB2-BD59-A6C34878D82A}">
                    <a16:rowId xmlns:a16="http://schemas.microsoft.com/office/drawing/2014/main" val="10000"/>
                  </a:ext>
                </a:extLst>
              </a:tr>
              <a:tr h="420624">
                <a:tc>
                  <a:txBody>
                    <a:bodyPr/>
                    <a:lstStyle/>
                    <a:p>
                      <a:r>
                        <a:rPr sz="1200" b="0">
                          <a:solidFill>
                            <a:srgbClr val="E6EDF8"/>
                          </a:solidFill>
                          <a:latin typeface="Calibri"/>
                        </a:rPr>
                        <a:t>Never signs, sends or approves (GR-01)</a:t>
                      </a:r>
                    </a:p>
                  </a:txBody>
                  <a:tcPr marL="73152" marR="73152" anchor="ctr">
                    <a:solidFill>
                      <a:srgbClr val="1A2B47"/>
                    </a:solidFill>
                  </a:tcPr>
                </a:tc>
                <a:tc>
                  <a:txBody>
                    <a:bodyPr/>
                    <a:lstStyle/>
                    <a:p>
                      <a:r>
                        <a:rPr sz="1200" b="0">
                          <a:solidFill>
                            <a:srgbClr val="E6EDF8"/>
                          </a:solidFill>
                          <a:latin typeface="Calibri"/>
                        </a:rPr>
                        <a:t>No external action exists in the code</a:t>
                      </a:r>
                    </a:p>
                  </a:txBody>
                  <a:tcPr marL="73152" marR="73152" anchor="ctr">
                    <a:solidFill>
                      <a:srgbClr val="1A2B47"/>
                    </a:solidFill>
                  </a:tcPr>
                </a:tc>
                <a:tc>
                  <a:txBody>
                    <a:bodyPr/>
                    <a:lstStyle/>
                    <a:p>
                      <a:r>
                        <a:rPr sz="1200" b="0">
                          <a:solidFill>
                            <a:srgbClr val="E6EDF8"/>
                          </a:solidFill>
                          <a:latin typeface="Calibri"/>
                        </a:rPr>
                        <a:t>Design; 97 offline tests</a:t>
                      </a:r>
                    </a:p>
                  </a:txBody>
                  <a:tcPr marL="73152" marR="73152" anchor="ctr">
                    <a:solidFill>
                      <a:srgbClr val="1A2B47"/>
                    </a:solidFill>
                  </a:tcPr>
                </a:tc>
                <a:extLst>
                  <a:ext uri="{0D108BD9-81ED-4DB2-BD59-A6C34878D82A}">
                    <a16:rowId xmlns:a16="http://schemas.microsoft.com/office/drawing/2014/main" val="10001"/>
                  </a:ext>
                </a:extLst>
              </a:tr>
              <a:tr h="420624">
                <a:tc>
                  <a:txBody>
                    <a:bodyPr/>
                    <a:lstStyle/>
                    <a:p>
                      <a:r>
                        <a:rPr sz="1200" b="0">
                          <a:solidFill>
                            <a:srgbClr val="E6EDF8"/>
                          </a:solidFill>
                          <a:latin typeface="Calibri"/>
                        </a:rPr>
                        <a:t>Every finding has a verified quote (GR-02)</a:t>
                      </a:r>
                    </a:p>
                  </a:txBody>
                  <a:tcPr marL="73152" marR="73152" anchor="ctr">
                    <a:solidFill>
                      <a:srgbClr val="0F1B2E"/>
                    </a:solidFill>
                  </a:tcPr>
                </a:tc>
                <a:tc>
                  <a:txBody>
                    <a:bodyPr/>
                    <a:lstStyle/>
                    <a:p>
                      <a:r>
                        <a:rPr sz="1200" b="0">
                          <a:solidFill>
                            <a:srgbClr val="E6EDF8"/>
                          </a:solidFill>
                          <a:latin typeface="Calibri"/>
                        </a:rPr>
                        <a:t>String match, else "Not sure, please cross-check"</a:t>
                      </a:r>
                    </a:p>
                  </a:txBody>
                  <a:tcPr marL="73152" marR="73152" anchor="ctr">
                    <a:solidFill>
                      <a:srgbClr val="0F1B2E"/>
                    </a:solidFill>
                  </a:tcPr>
                </a:tc>
                <a:tc>
                  <a:txBody>
                    <a:bodyPr/>
                    <a:lstStyle/>
                    <a:p>
                      <a:r>
                        <a:rPr sz="1200" b="0">
                          <a:solidFill>
                            <a:srgbClr val="E6EDF8"/>
                          </a:solidFill>
                          <a:latin typeface="Calibri"/>
                        </a:rPr>
                        <a:t>Unit tests; 0 unverified quotes shown as fact</a:t>
                      </a:r>
                    </a:p>
                  </a:txBody>
                  <a:tcPr marL="73152" marR="73152" anchor="ctr">
                    <a:solidFill>
                      <a:srgbClr val="0F1B2E"/>
                    </a:solidFill>
                  </a:tcPr>
                </a:tc>
                <a:extLst>
                  <a:ext uri="{0D108BD9-81ED-4DB2-BD59-A6C34878D82A}">
                    <a16:rowId xmlns:a16="http://schemas.microsoft.com/office/drawing/2014/main" val="10002"/>
                  </a:ext>
                </a:extLst>
              </a:tr>
              <a:tr h="420624">
                <a:tc>
                  <a:txBody>
                    <a:bodyPr/>
                    <a:lstStyle/>
                    <a:p>
                      <a:r>
                        <a:rPr sz="1200" b="0">
                          <a:solidFill>
                            <a:srgbClr val="E6EDF8"/>
                          </a:solidFill>
                          <a:latin typeface="Calibri"/>
                        </a:rPr>
                        <a:t>Never says "safe to sign" or "no conflict" (GR-03)</a:t>
                      </a:r>
                    </a:p>
                  </a:txBody>
                  <a:tcPr marL="73152" marR="73152" anchor="ctr">
                    <a:solidFill>
                      <a:srgbClr val="1A2B47"/>
                    </a:solidFill>
                  </a:tcPr>
                </a:tc>
                <a:tc>
                  <a:txBody>
                    <a:bodyPr/>
                    <a:lstStyle/>
                    <a:p>
                      <a:r>
                        <a:rPr sz="1200" b="0">
                          <a:solidFill>
                            <a:srgbClr val="E6EDF8"/>
                          </a:solidFill>
                          <a:latin typeface="Calibri"/>
                        </a:rPr>
                        <a:t>Claim filter removes the wording</a:t>
                      </a:r>
                    </a:p>
                  </a:txBody>
                  <a:tcPr marL="73152" marR="73152" anchor="ctr">
                    <a:solidFill>
                      <a:srgbClr val="1A2B47"/>
                    </a:solidFill>
                  </a:tcPr>
                </a:tc>
                <a:tc>
                  <a:txBody>
                    <a:bodyPr/>
                    <a:lstStyle/>
                    <a:p>
                      <a:r>
                        <a:rPr sz="1200" b="0">
                          <a:solidFill>
                            <a:srgbClr val="E6EDF8"/>
                          </a:solidFill>
                          <a:latin typeface="Calibri"/>
                        </a:rPr>
                        <a:t>Defence tests</a:t>
                      </a:r>
                    </a:p>
                  </a:txBody>
                  <a:tcPr marL="73152" marR="73152" anchor="ctr">
                    <a:solidFill>
                      <a:srgbClr val="1A2B47"/>
                    </a:solidFill>
                  </a:tcPr>
                </a:tc>
                <a:extLst>
                  <a:ext uri="{0D108BD9-81ED-4DB2-BD59-A6C34878D82A}">
                    <a16:rowId xmlns:a16="http://schemas.microsoft.com/office/drawing/2014/main" val="10003"/>
                  </a:ext>
                </a:extLst>
              </a:tr>
              <a:tr h="420624">
                <a:tc>
                  <a:txBody>
                    <a:bodyPr/>
                    <a:lstStyle/>
                    <a:p>
                      <a:r>
                        <a:rPr sz="1200" b="0">
                          <a:solidFill>
                            <a:srgbClr val="E6EDF8"/>
                          </a:solidFill>
                          <a:latin typeface="Calibri"/>
                        </a:rPr>
                        <a:t>Serious risk needs a reason; open ones block signing (GR-05, GR-11)</a:t>
                      </a:r>
                    </a:p>
                  </a:txBody>
                  <a:tcPr marL="73152" marR="73152" anchor="ctr">
                    <a:solidFill>
                      <a:srgbClr val="0F1B2E"/>
                    </a:solidFill>
                  </a:tcPr>
                </a:tc>
                <a:tc>
                  <a:txBody>
                    <a:bodyPr/>
                    <a:lstStyle/>
                    <a:p>
                      <a:r>
                        <a:rPr sz="1200" b="0">
                          <a:solidFill>
                            <a:srgbClr val="E6EDF8"/>
                          </a:solidFill>
                          <a:latin typeface="Calibri"/>
                        </a:rPr>
                        <a:t>Buttons disabled until answered</a:t>
                      </a:r>
                    </a:p>
                  </a:txBody>
                  <a:tcPr marL="73152" marR="73152" anchor="ctr">
                    <a:solidFill>
                      <a:srgbClr val="0F1B2E"/>
                    </a:solidFill>
                  </a:tcPr>
                </a:tc>
                <a:tc>
                  <a:txBody>
                    <a:bodyPr/>
                    <a:lstStyle/>
                    <a:p>
                      <a:r>
                        <a:rPr sz="1200" b="0">
                          <a:solidFill>
                            <a:srgbClr val="E6EDF8"/>
                          </a:solidFill>
                          <a:latin typeface="Calibri"/>
                        </a:rPr>
                        <a:t>Browser test</a:t>
                      </a:r>
                    </a:p>
                  </a:txBody>
                  <a:tcPr marL="73152" marR="73152" anchor="ctr">
                    <a:solidFill>
                      <a:srgbClr val="0F1B2E"/>
                    </a:solidFill>
                  </a:tcPr>
                </a:tc>
                <a:extLst>
                  <a:ext uri="{0D108BD9-81ED-4DB2-BD59-A6C34878D82A}">
                    <a16:rowId xmlns:a16="http://schemas.microsoft.com/office/drawing/2014/main" val="10004"/>
                  </a:ext>
                </a:extLst>
              </a:tr>
              <a:tr h="420624">
                <a:tc>
                  <a:txBody>
                    <a:bodyPr/>
                    <a:lstStyle/>
                    <a:p>
                      <a:r>
                        <a:rPr sz="1200" b="0">
                          <a:solidFill>
                            <a:srgbClr val="E6EDF8"/>
                          </a:solidFill>
                          <a:latin typeface="Calibri"/>
                        </a:rPr>
                        <a:t>Prompt injection and abuse</a:t>
                      </a:r>
                    </a:p>
                  </a:txBody>
                  <a:tcPr marL="73152" marR="73152" anchor="ctr">
                    <a:solidFill>
                      <a:srgbClr val="1A2B47"/>
                    </a:solidFill>
                  </a:tcPr>
                </a:tc>
                <a:tc>
                  <a:txBody>
                    <a:bodyPr/>
                    <a:lstStyle/>
                    <a:p>
                      <a:r>
                        <a:rPr sz="1200" b="0">
                          <a:solidFill>
                            <a:srgbClr val="E6EDF8"/>
                          </a:solidFill>
                          <a:latin typeface="Calibri"/>
                        </a:rPr>
                        <a:t>Regex screen, hardened prompt, same-origin, rate limit, daily budget</a:t>
                      </a:r>
                    </a:p>
                  </a:txBody>
                  <a:tcPr marL="73152" marR="73152" anchor="ctr">
                    <a:solidFill>
                      <a:srgbClr val="1A2B47"/>
                    </a:solidFill>
                  </a:tcPr>
                </a:tc>
                <a:tc>
                  <a:txBody>
                    <a:bodyPr/>
                    <a:lstStyle/>
                    <a:p>
                      <a:r>
                        <a:rPr sz="1200" b="0">
                          <a:solidFill>
                            <a:srgbClr val="E6EDF8"/>
                          </a:solidFill>
                          <a:latin typeface="Calibri"/>
                        </a:rPr>
                        <a:t>Red team: 7 of 7</a:t>
                      </a:r>
                    </a:p>
                  </a:txBody>
                  <a:tcPr marL="73152" marR="73152" anchor="ctr">
                    <a:solidFill>
                      <a:srgbClr val="1A2B47"/>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APPENDIX  |  RESPONSIBLE AI</a:t>
            </a:r>
          </a:p>
        </p:txBody>
      </p:sp>
      <p:sp>
        <p:nvSpPr>
          <p:cNvPr id="3" name="TextBox 2"/>
          <p:cNvSpPr txBox="1"/>
          <p:nvPr/>
        </p:nvSpPr>
        <p:spPr>
          <a:xfrm>
            <a:off x="548640" y="777240"/>
            <a:ext cx="11064240" cy="822960"/>
          </a:xfrm>
          <a:prstGeom prst="rect">
            <a:avLst/>
          </a:prstGeom>
          <a:noFill/>
        </p:spPr>
        <p:txBody>
          <a:bodyPr wrap="square" lIns="45720" rIns="45720" anchor="t">
            <a:spAutoFit/>
          </a:bodyPr>
          <a:lstStyle/>
          <a:p>
            <a:pPr algn="l"/>
            <a:r>
              <a:rPr sz="2600" b="1" i="0">
                <a:solidFill>
                  <a:srgbClr val="FFFFFF"/>
                </a:solidFill>
                <a:latin typeface="Calibri"/>
              </a:rPr>
              <a:t>Four pre-launch checks a regulator would ask about</a:t>
            </a:r>
          </a:p>
        </p:txBody>
      </p:sp>
      <p:sp>
        <p:nvSpPr>
          <p:cNvPr id="4" name="Rounded Rectangle 3"/>
          <p:cNvSpPr/>
          <p:nvPr/>
        </p:nvSpPr>
        <p:spPr>
          <a:xfrm>
            <a:off x="548640" y="1737360"/>
            <a:ext cx="2651760" cy="27432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FFFF"/>
                </a:solidFill>
                <a:latin typeface="Calibri"/>
              </a:rPr>
              <a:t>Privacy</a:t>
            </a:r>
          </a:p>
          <a:p>
            <a:pPr algn="ctr"/>
            <a:r>
              <a:rPr sz="1600">
                <a:solidFill>
                  <a:srgbClr val="9FB3CF"/>
                </a:solidFill>
                <a:latin typeface="Calibri"/>
              </a:rPr>
              <a:t>Mask identifiers; no-training, zero-retention terms; data in AtliQ's store</a:t>
            </a:r>
          </a:p>
        </p:txBody>
      </p:sp>
      <p:sp>
        <p:nvSpPr>
          <p:cNvPr id="5" name="TextBox 4"/>
          <p:cNvSpPr txBox="1"/>
          <p:nvPr/>
        </p:nvSpPr>
        <p:spPr>
          <a:xfrm>
            <a:off x="548640" y="4572000"/>
            <a:ext cx="2651760" cy="457200"/>
          </a:xfrm>
          <a:prstGeom prst="rect">
            <a:avLst/>
          </a:prstGeom>
          <a:noFill/>
        </p:spPr>
        <p:txBody>
          <a:bodyPr wrap="square" lIns="45720" rIns="45720" anchor="t">
            <a:spAutoFit/>
          </a:bodyPr>
          <a:lstStyle/>
          <a:p>
            <a:pPr algn="ctr"/>
            <a:r>
              <a:rPr sz="1800" b="1" i="0">
                <a:solidFill>
                  <a:srgbClr val="FFA630"/>
                </a:solidFill>
                <a:latin typeface="Calibri"/>
              </a:rPr>
              <a:t>Before pilot</a:t>
            </a:r>
          </a:p>
        </p:txBody>
      </p:sp>
      <p:sp>
        <p:nvSpPr>
          <p:cNvPr id="6" name="Rounded Rectangle 5"/>
          <p:cNvSpPr/>
          <p:nvPr/>
        </p:nvSpPr>
        <p:spPr>
          <a:xfrm>
            <a:off x="3364992" y="1737360"/>
            <a:ext cx="2651760" cy="27432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FFFF"/>
                </a:solidFill>
                <a:latin typeface="Calibri"/>
              </a:rPr>
              <a:t>Governance</a:t>
            </a:r>
          </a:p>
          <a:p>
            <a:pPr algn="ctr"/>
            <a:r>
              <a:rPr sz="1600">
                <a:solidFill>
                  <a:srgbClr val="9FB3CF"/>
                </a:solidFill>
                <a:latin typeface="Calibri"/>
              </a:rPr>
              <a:t>DPDP Act (India entity); GDPR for EU data; contract confidentiality</a:t>
            </a:r>
          </a:p>
        </p:txBody>
      </p:sp>
      <p:sp>
        <p:nvSpPr>
          <p:cNvPr id="7" name="TextBox 6"/>
          <p:cNvSpPr txBox="1"/>
          <p:nvPr/>
        </p:nvSpPr>
        <p:spPr>
          <a:xfrm>
            <a:off x="3364992" y="4572000"/>
            <a:ext cx="2651760" cy="457200"/>
          </a:xfrm>
          <a:prstGeom prst="rect">
            <a:avLst/>
          </a:prstGeom>
          <a:noFill/>
        </p:spPr>
        <p:txBody>
          <a:bodyPr wrap="square" lIns="45720" rIns="45720" anchor="t">
            <a:spAutoFit/>
          </a:bodyPr>
          <a:lstStyle/>
          <a:p>
            <a:pPr algn="ctr"/>
            <a:r>
              <a:rPr sz="1800" b="1" i="0">
                <a:solidFill>
                  <a:srgbClr val="FFA630"/>
                </a:solidFill>
                <a:latin typeface="Calibri"/>
              </a:rPr>
              <a:t>Before pilot</a:t>
            </a:r>
          </a:p>
        </p:txBody>
      </p:sp>
      <p:sp>
        <p:nvSpPr>
          <p:cNvPr id="8" name="Rounded Rectangle 7"/>
          <p:cNvSpPr/>
          <p:nvPr/>
        </p:nvSpPr>
        <p:spPr>
          <a:xfrm>
            <a:off x="6181344" y="1737360"/>
            <a:ext cx="2651760" cy="27432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FFFF"/>
                </a:solidFill>
                <a:latin typeface="Calibri"/>
              </a:rPr>
              <a:t>Consent</a:t>
            </a:r>
          </a:p>
          <a:p>
            <a:pPr algn="ctr"/>
            <a:r>
              <a:rPr sz="1600">
                <a:solidFill>
                  <a:srgbClr val="9FB3CF"/>
                </a:solidFill>
                <a:latin typeface="Calibri"/>
              </a:rPr>
              <a:t>Users know AI is used; nothing is sent to a client or counsel</a:t>
            </a:r>
          </a:p>
        </p:txBody>
      </p:sp>
      <p:sp>
        <p:nvSpPr>
          <p:cNvPr id="9" name="TextBox 8"/>
          <p:cNvSpPr txBox="1"/>
          <p:nvPr/>
        </p:nvSpPr>
        <p:spPr>
          <a:xfrm>
            <a:off x="6181344" y="4572000"/>
            <a:ext cx="2651760" cy="457200"/>
          </a:xfrm>
          <a:prstGeom prst="rect">
            <a:avLst/>
          </a:prstGeom>
          <a:noFill/>
        </p:spPr>
        <p:txBody>
          <a:bodyPr wrap="square" lIns="45720" rIns="45720" anchor="t">
            <a:spAutoFit/>
          </a:bodyPr>
          <a:lstStyle/>
          <a:p>
            <a:pPr algn="ctr"/>
            <a:r>
              <a:rPr sz="1800" b="1" i="0">
                <a:solidFill>
                  <a:srgbClr val="3DDC97"/>
                </a:solidFill>
                <a:latin typeface="Calibri"/>
              </a:rPr>
              <a:t>Built</a:t>
            </a:r>
          </a:p>
        </p:txBody>
      </p:sp>
      <p:sp>
        <p:nvSpPr>
          <p:cNvPr id="10" name="Rounded Rectangle 9"/>
          <p:cNvSpPr/>
          <p:nvPr/>
        </p:nvSpPr>
        <p:spPr>
          <a:xfrm>
            <a:off x="8997696" y="1737360"/>
            <a:ext cx="2651760" cy="27432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FFFF"/>
                </a:solidFill>
                <a:latin typeface="Calibri"/>
              </a:rPr>
              <a:t>Human in the loop</a:t>
            </a:r>
          </a:p>
          <a:p>
            <a:pPr algn="ctr"/>
            <a:r>
              <a:rPr sz="1600">
                <a:solidFill>
                  <a:srgbClr val="9FB3CF"/>
                </a:solidFill>
                <a:latin typeface="Calibri"/>
              </a:rPr>
              <a:t>A person decides and is accountable; every reason logged</a:t>
            </a:r>
          </a:p>
        </p:txBody>
      </p:sp>
      <p:sp>
        <p:nvSpPr>
          <p:cNvPr id="11" name="TextBox 10"/>
          <p:cNvSpPr txBox="1"/>
          <p:nvPr/>
        </p:nvSpPr>
        <p:spPr>
          <a:xfrm>
            <a:off x="8997696" y="4572000"/>
            <a:ext cx="2651760" cy="457200"/>
          </a:xfrm>
          <a:prstGeom prst="rect">
            <a:avLst/>
          </a:prstGeom>
          <a:noFill/>
        </p:spPr>
        <p:txBody>
          <a:bodyPr wrap="square" lIns="45720" rIns="45720" anchor="t">
            <a:spAutoFit/>
          </a:bodyPr>
          <a:lstStyle/>
          <a:p>
            <a:pPr algn="ctr"/>
            <a:r>
              <a:rPr sz="1800" b="1" i="0">
                <a:solidFill>
                  <a:srgbClr val="3DDC97"/>
                </a:solidFill>
                <a:latin typeface="Calibri"/>
              </a:rPr>
              <a:t>Built</a:t>
            </a:r>
          </a:p>
        </p:txBody>
      </p:sp>
      <p:sp>
        <p:nvSpPr>
          <p:cNvPr id="12" name="TextBox 11"/>
          <p:cNvSpPr txBox="1"/>
          <p:nvPr/>
        </p:nvSpPr>
        <p:spPr>
          <a:xfrm>
            <a:off x="548640" y="5303520"/>
            <a:ext cx="11064240" cy="822960"/>
          </a:xfrm>
          <a:prstGeom prst="rect">
            <a:avLst/>
          </a:prstGeom>
          <a:noFill/>
        </p:spPr>
        <p:txBody>
          <a:bodyPr wrap="square" lIns="45720" rIns="45720" anchor="t">
            <a:spAutoFit/>
          </a:bodyPr>
          <a:lstStyle/>
          <a:p>
            <a:pPr algn="l"/>
            <a:r>
              <a:rPr sz="2000" b="1" i="0">
                <a:solidFill>
                  <a:srgbClr val="FF5A4F"/>
                </a:solidFill>
                <a:latin typeface="Calibri"/>
              </a:rPr>
              <a:t>Kill switch: back to manual at once if the tool says "safe to sign", shows an unverifiable quote, or exposes data.</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APPENDIX  |  EVALS</a:t>
            </a:r>
          </a:p>
        </p:txBody>
      </p:sp>
      <p:sp>
        <p:nvSpPr>
          <p:cNvPr id="3" name="TextBox 2"/>
          <p:cNvSpPr txBox="1"/>
          <p:nvPr/>
        </p:nvSpPr>
        <p:spPr>
          <a:xfrm>
            <a:off x="548640" y="777240"/>
            <a:ext cx="11064240" cy="822960"/>
          </a:xfrm>
          <a:prstGeom prst="rect">
            <a:avLst/>
          </a:prstGeom>
          <a:noFill/>
        </p:spPr>
        <p:txBody>
          <a:bodyPr wrap="square" lIns="45720" rIns="45720" anchor="t">
            <a:spAutoFit/>
          </a:bodyPr>
          <a:lstStyle/>
          <a:p>
            <a:pPr algn="l"/>
            <a:r>
              <a:rPr sz="2600" b="1" i="0">
                <a:solidFill>
                  <a:srgbClr val="FFFFFF"/>
                </a:solidFill>
                <a:latin typeface="Calibri"/>
              </a:rPr>
              <a:t>Evals: the ground-floor metrics against targets</a:t>
            </a:r>
          </a:p>
        </p:txBody>
      </p:sp>
      <p:graphicFrame>
        <p:nvGraphicFramePr>
          <p:cNvPr id="4" name="Table 3"/>
          <p:cNvGraphicFramePr>
            <a:graphicFrameLocks noGrp="1"/>
          </p:cNvGraphicFramePr>
          <p:nvPr/>
        </p:nvGraphicFramePr>
        <p:xfrm>
          <a:off x="548640" y="1645920"/>
          <a:ext cx="11064240" cy="409651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12064">
                <a:tc>
                  <a:txBody>
                    <a:bodyPr/>
                    <a:lstStyle/>
                    <a:p>
                      <a:r>
                        <a:rPr sz="1200" b="1">
                          <a:solidFill>
                            <a:srgbClr val="FFFFFF"/>
                          </a:solidFill>
                          <a:latin typeface="Calibri"/>
                        </a:rPr>
                        <a:t>AI metric</a:t>
                      </a:r>
                    </a:p>
                  </a:txBody>
                  <a:tcPr marL="73152" marR="73152" anchor="ctr">
                    <a:solidFill>
                      <a:srgbClr val="22375A"/>
                    </a:solidFill>
                  </a:tcPr>
                </a:tc>
                <a:tc>
                  <a:txBody>
                    <a:bodyPr/>
                    <a:lstStyle/>
                    <a:p>
                      <a:r>
                        <a:rPr sz="1200" b="1">
                          <a:solidFill>
                            <a:srgbClr val="FFFFFF"/>
                          </a:solidFill>
                          <a:latin typeface="Calibri"/>
                        </a:rPr>
                        <a:t>How it is measured</a:t>
                      </a:r>
                    </a:p>
                  </a:txBody>
                  <a:tcPr marL="73152" marR="73152" anchor="ctr">
                    <a:solidFill>
                      <a:srgbClr val="22375A"/>
                    </a:solidFill>
                  </a:tcPr>
                </a:tc>
                <a:tc>
                  <a:txBody>
                    <a:bodyPr/>
                    <a:lstStyle/>
                    <a:p>
                      <a:r>
                        <a:rPr sz="1200" b="1">
                          <a:solidFill>
                            <a:srgbClr val="FFFFFF"/>
                          </a:solidFill>
                          <a:latin typeface="Calibri"/>
                        </a:rPr>
                        <a:t>Result</a:t>
                      </a:r>
                    </a:p>
                  </a:txBody>
                  <a:tcPr marL="73152" marR="73152" anchor="ctr">
                    <a:solidFill>
                      <a:srgbClr val="22375A"/>
                    </a:solidFill>
                  </a:tcPr>
                </a:tc>
                <a:tc>
                  <a:txBody>
                    <a:bodyPr/>
                    <a:lstStyle/>
                    <a:p>
                      <a:r>
                        <a:rPr sz="1200" b="1">
                          <a:solidFill>
                            <a:srgbClr val="FFFFFF"/>
                          </a:solidFill>
                          <a:latin typeface="Calibri"/>
                        </a:rPr>
                        <a:t>Target</a:t>
                      </a:r>
                    </a:p>
                  </a:txBody>
                  <a:tcPr marL="73152" marR="73152" anchor="ctr">
                    <a:solidFill>
                      <a:srgbClr val="22375A"/>
                    </a:solidFill>
                  </a:tcPr>
                </a:tc>
                <a:extLst>
                  <a:ext uri="{0D108BD9-81ED-4DB2-BD59-A6C34878D82A}">
                    <a16:rowId xmlns:a16="http://schemas.microsoft.com/office/drawing/2014/main" val="10000"/>
                  </a:ext>
                </a:extLst>
              </a:tr>
              <a:tr h="512064">
                <a:tc>
                  <a:txBody>
                    <a:bodyPr/>
                    <a:lstStyle/>
                    <a:p>
                      <a:r>
                        <a:rPr sz="1200" b="0">
                          <a:solidFill>
                            <a:srgbClr val="E6EDF8"/>
                          </a:solidFill>
                          <a:latin typeface="Calibri"/>
                        </a:rPr>
                        <a:t>Recall of must-catch risks</a:t>
                      </a:r>
                    </a:p>
                  </a:txBody>
                  <a:tcPr marL="73152" marR="73152" anchor="ctr">
                    <a:solidFill>
                      <a:srgbClr val="1A2B47"/>
                    </a:solidFill>
                  </a:tcPr>
                </a:tc>
                <a:tc>
                  <a:txBody>
                    <a:bodyPr/>
                    <a:lstStyle/>
                    <a:p>
                      <a:r>
                        <a:rPr sz="1200" b="0">
                          <a:solidFill>
                            <a:srgbClr val="E6EDF8"/>
                          </a:solidFill>
                          <a:latin typeface="Calibri"/>
                        </a:rPr>
                        <a:t>Gold set: 24 risks across 15 real drafts</a:t>
                      </a:r>
                    </a:p>
                  </a:txBody>
                  <a:tcPr marL="73152" marR="73152" anchor="ctr">
                    <a:solidFill>
                      <a:srgbClr val="1A2B47"/>
                    </a:solidFill>
                  </a:tcPr>
                </a:tc>
                <a:tc>
                  <a:txBody>
                    <a:bodyPr/>
                    <a:lstStyle/>
                    <a:p>
                      <a:r>
                        <a:rPr sz="1200" b="0">
                          <a:solidFill>
                            <a:srgbClr val="E6EDF8"/>
                          </a:solidFill>
                          <a:latin typeface="Calibri"/>
                        </a:rPr>
                        <a:t>24 of 24</a:t>
                      </a:r>
                    </a:p>
                  </a:txBody>
                  <a:tcPr marL="73152" marR="73152" anchor="ctr">
                    <a:solidFill>
                      <a:srgbClr val="1A2B47"/>
                    </a:solidFill>
                  </a:tcPr>
                </a:tc>
                <a:tc>
                  <a:txBody>
                    <a:bodyPr/>
                    <a:lstStyle/>
                    <a:p>
                      <a:r>
                        <a:rPr sz="1200" b="0">
                          <a:solidFill>
                            <a:srgbClr val="E6EDF8"/>
                          </a:solidFill>
                          <a:latin typeface="Calibri"/>
                        </a:rPr>
                        <a:t>100%</a:t>
                      </a:r>
                    </a:p>
                  </a:txBody>
                  <a:tcPr marL="73152" marR="73152" anchor="ctr">
                    <a:solidFill>
                      <a:srgbClr val="1A2B47"/>
                    </a:solidFill>
                  </a:tcPr>
                </a:tc>
                <a:extLst>
                  <a:ext uri="{0D108BD9-81ED-4DB2-BD59-A6C34878D82A}">
                    <a16:rowId xmlns:a16="http://schemas.microsoft.com/office/drawing/2014/main" val="10001"/>
                  </a:ext>
                </a:extLst>
              </a:tr>
              <a:tr h="512064">
                <a:tc>
                  <a:txBody>
                    <a:bodyPr/>
                    <a:lstStyle/>
                    <a:p>
                      <a:r>
                        <a:rPr sz="1200" b="0">
                          <a:solidFill>
                            <a:srgbClr val="E6EDF8"/>
                          </a:solidFill>
                          <a:latin typeface="Calibri"/>
                        </a:rPr>
                        <a:t>Precision of Serious findings</a:t>
                      </a:r>
                    </a:p>
                  </a:txBody>
                  <a:tcPr marL="73152" marR="73152" anchor="ctr">
                    <a:solidFill>
                      <a:srgbClr val="0F1B2E"/>
                    </a:solidFill>
                  </a:tcPr>
                </a:tc>
                <a:tc>
                  <a:txBody>
                    <a:bodyPr/>
                    <a:lstStyle/>
                    <a:p>
                      <a:r>
                        <a:rPr sz="1200" b="0">
                          <a:solidFill>
                            <a:srgbClr val="E6EDF8"/>
                          </a:solidFill>
                          <a:latin typeface="Calibri"/>
                        </a:rPr>
                        <a:t>67 findings labelled valid / routine / wrong</a:t>
                      </a:r>
                    </a:p>
                  </a:txBody>
                  <a:tcPr marL="73152" marR="73152" anchor="ctr">
                    <a:solidFill>
                      <a:srgbClr val="0F1B2E"/>
                    </a:solidFill>
                  </a:tcPr>
                </a:tc>
                <a:tc>
                  <a:txBody>
                    <a:bodyPr/>
                    <a:lstStyle/>
                    <a:p>
                      <a:r>
                        <a:rPr sz="1200" b="0">
                          <a:solidFill>
                            <a:srgbClr val="E6EDF8"/>
                          </a:solidFill>
                          <a:latin typeface="Calibri"/>
                        </a:rPr>
                        <a:t>88% valid, 0 wrong</a:t>
                      </a:r>
                    </a:p>
                  </a:txBody>
                  <a:tcPr marL="73152" marR="73152" anchor="ctr">
                    <a:solidFill>
                      <a:srgbClr val="0F1B2E"/>
                    </a:solidFill>
                  </a:tcPr>
                </a:tc>
                <a:tc>
                  <a:txBody>
                    <a:bodyPr/>
                    <a:lstStyle/>
                    <a:p>
                      <a:r>
                        <a:rPr sz="1200" b="0">
                          <a:solidFill>
                            <a:srgbClr val="E6EDF8"/>
                          </a:solidFill>
                          <a:latin typeface="Calibri"/>
                        </a:rPr>
                        <a:t>at least 60%</a:t>
                      </a:r>
                    </a:p>
                  </a:txBody>
                  <a:tcPr marL="73152" marR="73152" anchor="ctr">
                    <a:solidFill>
                      <a:srgbClr val="0F1B2E"/>
                    </a:solidFill>
                  </a:tcPr>
                </a:tc>
                <a:extLst>
                  <a:ext uri="{0D108BD9-81ED-4DB2-BD59-A6C34878D82A}">
                    <a16:rowId xmlns:a16="http://schemas.microsoft.com/office/drawing/2014/main" val="10002"/>
                  </a:ext>
                </a:extLst>
              </a:tr>
              <a:tr h="512064">
                <a:tc>
                  <a:txBody>
                    <a:bodyPr/>
                    <a:lstStyle/>
                    <a:p>
                      <a:r>
                        <a:rPr sz="1200" b="0">
                          <a:solidFill>
                            <a:srgbClr val="E6EDF8"/>
                          </a:solidFill>
                          <a:latin typeface="Calibri"/>
                        </a:rPr>
                        <a:t>Hallucination rate</a:t>
                      </a:r>
                    </a:p>
                  </a:txBody>
                  <a:tcPr marL="73152" marR="73152" anchor="ctr">
                    <a:solidFill>
                      <a:srgbClr val="1A2B47"/>
                    </a:solidFill>
                  </a:tcPr>
                </a:tc>
                <a:tc>
                  <a:txBody>
                    <a:bodyPr/>
                    <a:lstStyle/>
                    <a:p>
                      <a:r>
                        <a:rPr sz="1200" b="0">
                          <a:solidFill>
                            <a:srgbClr val="E6EDF8"/>
                          </a:solidFill>
                          <a:latin typeface="Calibri"/>
                        </a:rPr>
                        <a:t>Findings whose quote is not in the contract</a:t>
                      </a:r>
                    </a:p>
                  </a:txBody>
                  <a:tcPr marL="73152" marR="73152" anchor="ctr">
                    <a:solidFill>
                      <a:srgbClr val="1A2B47"/>
                    </a:solidFill>
                  </a:tcPr>
                </a:tc>
                <a:tc>
                  <a:txBody>
                    <a:bodyPr/>
                    <a:lstStyle/>
                    <a:p>
                      <a:r>
                        <a:rPr sz="1200" b="0">
                          <a:solidFill>
                            <a:srgbClr val="E6EDF8"/>
                          </a:solidFill>
                          <a:latin typeface="Calibri"/>
                        </a:rPr>
                        <a:t>0 shown as fact</a:t>
                      </a:r>
                    </a:p>
                  </a:txBody>
                  <a:tcPr marL="73152" marR="73152" anchor="ctr">
                    <a:solidFill>
                      <a:srgbClr val="1A2B47"/>
                    </a:solidFill>
                  </a:tcPr>
                </a:tc>
                <a:tc>
                  <a:txBody>
                    <a:bodyPr/>
                    <a:lstStyle/>
                    <a:p>
                      <a:r>
                        <a:rPr sz="1200" b="0">
                          <a:solidFill>
                            <a:srgbClr val="E6EDF8"/>
                          </a:solidFill>
                          <a:latin typeface="Calibri"/>
                        </a:rPr>
                        <a:t>0</a:t>
                      </a:r>
                    </a:p>
                  </a:txBody>
                  <a:tcPr marL="73152" marR="73152" anchor="ctr">
                    <a:solidFill>
                      <a:srgbClr val="1A2B47"/>
                    </a:solidFill>
                  </a:tcPr>
                </a:tc>
                <a:extLst>
                  <a:ext uri="{0D108BD9-81ED-4DB2-BD59-A6C34878D82A}">
                    <a16:rowId xmlns:a16="http://schemas.microsoft.com/office/drawing/2014/main" val="10003"/>
                  </a:ext>
                </a:extLst>
              </a:tr>
              <a:tr h="512064">
                <a:tc>
                  <a:txBody>
                    <a:bodyPr/>
                    <a:lstStyle/>
                    <a:p>
                      <a:r>
                        <a:rPr sz="1200" b="0">
                          <a:solidFill>
                            <a:srgbClr val="E6EDF8"/>
                          </a:solidFill>
                          <a:latin typeface="Calibri"/>
                        </a:rPr>
                        <a:t>Groundedness</a:t>
                      </a:r>
                    </a:p>
                  </a:txBody>
                  <a:tcPr marL="73152" marR="73152" anchor="ctr">
                    <a:solidFill>
                      <a:srgbClr val="0F1B2E"/>
                    </a:solidFill>
                  </a:tcPr>
                </a:tc>
                <a:tc>
                  <a:txBody>
                    <a:bodyPr/>
                    <a:lstStyle/>
                    <a:p>
                      <a:r>
                        <a:rPr sz="1200" b="0">
                          <a:solidFill>
                            <a:srgbClr val="E6EDF8"/>
                          </a:solidFill>
                          <a:latin typeface="Calibri"/>
                        </a:rPr>
                        <a:t>Each finding quote string-matched to the source</a:t>
                      </a:r>
                    </a:p>
                  </a:txBody>
                  <a:tcPr marL="73152" marR="73152" anchor="ctr">
                    <a:solidFill>
                      <a:srgbClr val="0F1B2E"/>
                    </a:solidFill>
                  </a:tcPr>
                </a:tc>
                <a:tc>
                  <a:txBody>
                    <a:bodyPr/>
                    <a:lstStyle/>
                    <a:p>
                      <a:r>
                        <a:rPr sz="1200" b="0">
                          <a:solidFill>
                            <a:srgbClr val="E6EDF8"/>
                          </a:solidFill>
                          <a:latin typeface="Calibri"/>
                        </a:rPr>
                        <a:t>100% by construction</a:t>
                      </a:r>
                    </a:p>
                  </a:txBody>
                  <a:tcPr marL="73152" marR="73152" anchor="ctr">
                    <a:solidFill>
                      <a:srgbClr val="0F1B2E"/>
                    </a:solidFill>
                  </a:tcPr>
                </a:tc>
                <a:tc>
                  <a:txBody>
                    <a:bodyPr/>
                    <a:lstStyle/>
                    <a:p>
                      <a:r>
                        <a:rPr sz="1200" b="0">
                          <a:solidFill>
                            <a:srgbClr val="E6EDF8"/>
                          </a:solidFill>
                          <a:latin typeface="Calibri"/>
                        </a:rPr>
                        <a:t>100%</a:t>
                      </a:r>
                    </a:p>
                  </a:txBody>
                  <a:tcPr marL="73152" marR="73152" anchor="ctr">
                    <a:solidFill>
                      <a:srgbClr val="0F1B2E"/>
                    </a:solidFill>
                  </a:tcPr>
                </a:tc>
                <a:extLst>
                  <a:ext uri="{0D108BD9-81ED-4DB2-BD59-A6C34878D82A}">
                    <a16:rowId xmlns:a16="http://schemas.microsoft.com/office/drawing/2014/main" val="10004"/>
                  </a:ext>
                </a:extLst>
              </a:tr>
              <a:tr h="512064">
                <a:tc>
                  <a:txBody>
                    <a:bodyPr/>
                    <a:lstStyle/>
                    <a:p>
                      <a:r>
                        <a:rPr sz="1200" b="0">
                          <a:solidFill>
                            <a:srgbClr val="E6EDF8"/>
                          </a:solidFill>
                          <a:latin typeface="Calibri"/>
                        </a:rPr>
                        <a:t>Latency</a:t>
                      </a:r>
                    </a:p>
                  </a:txBody>
                  <a:tcPr marL="73152" marR="73152" anchor="ctr">
                    <a:solidFill>
                      <a:srgbClr val="1A2B47"/>
                    </a:solidFill>
                  </a:tcPr>
                </a:tc>
                <a:tc>
                  <a:txBody>
                    <a:bodyPr/>
                    <a:lstStyle/>
                    <a:p>
                      <a:r>
                        <a:rPr sz="1200" b="0">
                          <a:solidFill>
                            <a:srgbClr val="E6EDF8"/>
                          </a:solidFill>
                          <a:latin typeface="Calibri"/>
                        </a:rPr>
                        <a:t>Upload to review, per contract</a:t>
                      </a:r>
                    </a:p>
                  </a:txBody>
                  <a:tcPr marL="73152" marR="73152" anchor="ctr">
                    <a:solidFill>
                      <a:srgbClr val="1A2B47"/>
                    </a:solidFill>
                  </a:tcPr>
                </a:tc>
                <a:tc>
                  <a:txBody>
                    <a:bodyPr/>
                    <a:lstStyle/>
                    <a:p>
                      <a:r>
                        <a:rPr sz="1200" b="0">
                          <a:solidFill>
                            <a:srgbClr val="E6EDF8"/>
                          </a:solidFill>
                          <a:latin typeface="Calibri"/>
                        </a:rPr>
                        <a:t>under 20 s typical; 35 to 85 s on a slow day</a:t>
                      </a:r>
                    </a:p>
                  </a:txBody>
                  <a:tcPr marL="73152" marR="73152" anchor="ctr">
                    <a:solidFill>
                      <a:srgbClr val="1A2B47"/>
                    </a:solidFill>
                  </a:tcPr>
                </a:tc>
                <a:tc>
                  <a:txBody>
                    <a:bodyPr/>
                    <a:lstStyle/>
                    <a:p>
                      <a:r>
                        <a:rPr sz="1200" b="0">
                          <a:solidFill>
                            <a:srgbClr val="E6EDF8"/>
                          </a:solidFill>
                          <a:latin typeface="Calibri"/>
                        </a:rPr>
                        <a:t>P95 under 5 min</a:t>
                      </a:r>
                    </a:p>
                  </a:txBody>
                  <a:tcPr marL="73152" marR="73152" anchor="ctr">
                    <a:solidFill>
                      <a:srgbClr val="1A2B47"/>
                    </a:solidFill>
                  </a:tcPr>
                </a:tc>
                <a:extLst>
                  <a:ext uri="{0D108BD9-81ED-4DB2-BD59-A6C34878D82A}">
                    <a16:rowId xmlns:a16="http://schemas.microsoft.com/office/drawing/2014/main" val="10005"/>
                  </a:ext>
                </a:extLst>
              </a:tr>
              <a:tr h="512064">
                <a:tc>
                  <a:txBody>
                    <a:bodyPr/>
                    <a:lstStyle/>
                    <a:p>
                      <a:r>
                        <a:rPr sz="1200" b="0">
                          <a:solidFill>
                            <a:srgbClr val="E6EDF8"/>
                          </a:solidFill>
                          <a:latin typeface="Calibri"/>
                        </a:rPr>
                        <a:t>Token cost</a:t>
                      </a:r>
                    </a:p>
                  </a:txBody>
                  <a:tcPr marL="73152" marR="73152" anchor="ctr">
                    <a:solidFill>
                      <a:srgbClr val="0F1B2E"/>
                    </a:solidFill>
                  </a:tcPr>
                </a:tc>
                <a:tc>
                  <a:txBody>
                    <a:bodyPr/>
                    <a:lstStyle/>
                    <a:p>
                      <a:r>
                        <a:rPr sz="1200" b="0">
                          <a:solidFill>
                            <a:srgbClr val="E6EDF8"/>
                          </a:solidFill>
                          <a:latin typeface="Calibri"/>
                        </a:rPr>
                        <a:t>Tokens in and out per review</a:t>
                      </a:r>
                    </a:p>
                  </a:txBody>
                  <a:tcPr marL="73152" marR="73152" anchor="ctr">
                    <a:solidFill>
                      <a:srgbClr val="0F1B2E"/>
                    </a:solidFill>
                  </a:tcPr>
                </a:tc>
                <a:tc>
                  <a:txBody>
                    <a:bodyPr/>
                    <a:lstStyle/>
                    <a:p>
                      <a:r>
                        <a:rPr sz="1200" b="0">
                          <a:solidFill>
                            <a:srgbClr val="E6EDF8"/>
                          </a:solidFill>
                          <a:latin typeface="Calibri"/>
                        </a:rPr>
                        <a:t>about $0.05</a:t>
                      </a:r>
                    </a:p>
                  </a:txBody>
                  <a:tcPr marL="73152" marR="73152" anchor="ctr">
                    <a:solidFill>
                      <a:srgbClr val="0F1B2E"/>
                    </a:solidFill>
                  </a:tcPr>
                </a:tc>
                <a:tc>
                  <a:txBody>
                    <a:bodyPr/>
                    <a:lstStyle/>
                    <a:p>
                      <a:r>
                        <a:rPr sz="1200" b="0">
                          <a:solidFill>
                            <a:srgbClr val="E6EDF8"/>
                          </a:solidFill>
                          <a:latin typeface="Calibri"/>
                        </a:rPr>
                        <a:t>does not choose the model</a:t>
                      </a:r>
                    </a:p>
                  </a:txBody>
                  <a:tcPr marL="73152" marR="73152" anchor="ctr">
                    <a:solidFill>
                      <a:srgbClr val="0F1B2E"/>
                    </a:solidFill>
                  </a:tcPr>
                </a:tc>
                <a:extLst>
                  <a:ext uri="{0D108BD9-81ED-4DB2-BD59-A6C34878D82A}">
                    <a16:rowId xmlns:a16="http://schemas.microsoft.com/office/drawing/2014/main" val="10006"/>
                  </a:ext>
                </a:extLst>
              </a:tr>
              <a:tr h="512064">
                <a:tc>
                  <a:txBody>
                    <a:bodyPr/>
                    <a:lstStyle/>
                    <a:p>
                      <a:r>
                        <a:rPr sz="1200" b="0">
                          <a:solidFill>
                            <a:srgbClr val="E6EDF8"/>
                          </a:solidFill>
                          <a:latin typeface="Calibri"/>
                        </a:rPr>
                        <a:t>Model drift</a:t>
                      </a:r>
                    </a:p>
                  </a:txBody>
                  <a:tcPr marL="73152" marR="73152" anchor="ctr">
                    <a:solidFill>
                      <a:srgbClr val="1A2B47"/>
                    </a:solidFill>
                  </a:tcPr>
                </a:tc>
                <a:tc>
                  <a:txBody>
                    <a:bodyPr/>
                    <a:lstStyle/>
                    <a:p>
                      <a:r>
                        <a:rPr sz="1200" b="0">
                          <a:solidFill>
                            <a:srgbClr val="E6EDF8"/>
                          </a:solidFill>
                          <a:latin typeface="Calibri"/>
                        </a:rPr>
                        <a:t>Pinned versions; gold set re-run before any change</a:t>
                      </a:r>
                    </a:p>
                  </a:txBody>
                  <a:tcPr marL="73152" marR="73152" anchor="ctr">
                    <a:solidFill>
                      <a:srgbClr val="1A2B47"/>
                    </a:solidFill>
                  </a:tcPr>
                </a:tc>
                <a:tc>
                  <a:txBody>
                    <a:bodyPr/>
                    <a:lstStyle/>
                    <a:p>
                      <a:r>
                        <a:rPr sz="1200" b="0">
                          <a:solidFill>
                            <a:srgbClr val="E6EDF8"/>
                          </a:solidFill>
                          <a:latin typeface="Calibri"/>
                        </a:rPr>
                        <a:t>process defined</a:t>
                      </a:r>
                    </a:p>
                  </a:txBody>
                  <a:tcPr marL="73152" marR="73152" anchor="ctr">
                    <a:solidFill>
                      <a:srgbClr val="1A2B47"/>
                    </a:solidFill>
                  </a:tcPr>
                </a:tc>
                <a:tc>
                  <a:txBody>
                    <a:bodyPr/>
                    <a:lstStyle/>
                    <a:p>
                      <a:r>
                        <a:rPr sz="1200" b="0">
                          <a:solidFill>
                            <a:srgbClr val="E6EDF8"/>
                          </a:solidFill>
                          <a:latin typeface="Calibri"/>
                        </a:rPr>
                        <a:t>no release on a drop</a:t>
                      </a:r>
                    </a:p>
                  </a:txBody>
                  <a:tcPr marL="73152" marR="73152" anchor="ctr">
                    <a:solidFill>
                      <a:srgbClr val="1A2B47"/>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APPENDIX  |  EVALS</a:t>
            </a:r>
          </a:p>
        </p:txBody>
      </p:sp>
      <p:sp>
        <p:nvSpPr>
          <p:cNvPr id="3" name="TextBox 2"/>
          <p:cNvSpPr txBox="1"/>
          <p:nvPr/>
        </p:nvSpPr>
        <p:spPr>
          <a:xfrm>
            <a:off x="548640" y="777240"/>
            <a:ext cx="11064240" cy="822960"/>
          </a:xfrm>
          <a:prstGeom prst="rect">
            <a:avLst/>
          </a:prstGeom>
          <a:noFill/>
        </p:spPr>
        <p:txBody>
          <a:bodyPr wrap="square" lIns="45720" rIns="45720" anchor="t">
            <a:spAutoFit/>
          </a:bodyPr>
          <a:lstStyle/>
          <a:p>
            <a:pPr algn="l"/>
            <a:r>
              <a:rPr sz="2600" b="1" i="0">
                <a:solidFill>
                  <a:srgbClr val="FFFFFF"/>
                </a:solidFill>
                <a:latin typeface="Calibri"/>
              </a:rPr>
              <a:t>How we evaluate: golden dataset, red team, gate, honest limits</a:t>
            </a:r>
          </a:p>
        </p:txBody>
      </p:sp>
      <p:sp>
        <p:nvSpPr>
          <p:cNvPr id="4" name="Rounded Rectangle 3"/>
          <p:cNvSpPr/>
          <p:nvPr/>
        </p:nvSpPr>
        <p:spPr>
          <a:xfrm>
            <a:off x="548640" y="1737360"/>
            <a:ext cx="3566160" cy="3291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FFFF"/>
                </a:solidFill>
                <a:latin typeface="Calibri"/>
              </a:rPr>
              <a:t>Golden dataset</a:t>
            </a:r>
          </a:p>
          <a:p>
            <a:pPr algn="ctr"/>
            <a:r>
              <a:rPr sz="1700">
                <a:solidFill>
                  <a:srgbClr val="9FB3CF"/>
                </a:solidFill>
                <a:latin typeface="Calibri"/>
              </a:rPr>
              <a:t>24 risks in 15 real drafts; 11 synthetic contracts with answer key; 14 register entries; 2 clean controls</a:t>
            </a:r>
          </a:p>
        </p:txBody>
      </p:sp>
      <p:sp>
        <p:nvSpPr>
          <p:cNvPr id="5" name="Rounded Rectangle 4"/>
          <p:cNvSpPr/>
          <p:nvPr/>
        </p:nvSpPr>
        <p:spPr>
          <a:xfrm>
            <a:off x="4297680" y="1737360"/>
            <a:ext cx="3566160" cy="3291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FFFF"/>
                </a:solidFill>
                <a:latin typeface="Calibri"/>
              </a:rPr>
              <a:t>Tests and gates</a:t>
            </a:r>
          </a:p>
          <a:p>
            <a:pPr algn="ctr"/>
            <a:r>
              <a:rPr sz="1700">
                <a:solidFill>
                  <a:srgbClr val="9FB3CF"/>
                </a:solidFill>
                <a:latin typeface="Calibri"/>
              </a:rPr>
              <a:t>97 offline tests; 7 red-team attacks; extractor 86 to 93%; regression run before any change</a:t>
            </a:r>
          </a:p>
        </p:txBody>
      </p:sp>
      <p:sp>
        <p:nvSpPr>
          <p:cNvPr id="6" name="Rounded Rectangle 5"/>
          <p:cNvSpPr/>
          <p:nvPr/>
        </p:nvSpPr>
        <p:spPr>
          <a:xfrm>
            <a:off x="8046720" y="1737360"/>
            <a:ext cx="3566160" cy="329184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a:solidFill>
                  <a:srgbClr val="FFA630"/>
                </a:solidFill>
                <a:latin typeface="Calibri"/>
              </a:rPr>
              <a:t>Not proven</a:t>
            </a:r>
          </a:p>
          <a:p>
            <a:pPr algn="ctr"/>
            <a:r>
              <a:rPr sz="1700">
                <a:solidFill>
                  <a:srgbClr val="9FB3CF"/>
                </a:solidFill>
                <a:latin typeface="Calibri"/>
              </a:rPr>
              <a:t>Labels are mine; severity cut-offs are defaults; time saved is modelled; no real contracts yet</a:t>
            </a:r>
          </a:p>
        </p:txBody>
      </p:sp>
      <p:sp>
        <p:nvSpPr>
          <p:cNvPr id="7" name="TextBox 6"/>
          <p:cNvSpPr txBox="1"/>
          <p:nvPr/>
        </p:nvSpPr>
        <p:spPr>
          <a:xfrm>
            <a:off x="548640" y="5303520"/>
            <a:ext cx="11064240" cy="731520"/>
          </a:xfrm>
          <a:prstGeom prst="rect">
            <a:avLst/>
          </a:prstGeom>
          <a:noFill/>
        </p:spPr>
        <p:txBody>
          <a:bodyPr wrap="square" lIns="45720" rIns="45720" anchor="t">
            <a:spAutoFit/>
          </a:bodyPr>
          <a:lstStyle/>
          <a:p>
            <a:pPr algn="l"/>
            <a:r>
              <a:rPr sz="2000" b="0" i="1">
                <a:solidFill>
                  <a:srgbClr val="9FB3CF"/>
                </a:solidFill>
                <a:latin typeface="Calibri"/>
              </a:rPr>
              <a:t>Karandeep to confirm the labels; the pilot adds the first independent measurement.</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APPENDIX  |  MOAT</a:t>
            </a:r>
          </a:p>
        </p:txBody>
      </p:sp>
      <p:sp>
        <p:nvSpPr>
          <p:cNvPr id="3" name="TextBox 2"/>
          <p:cNvSpPr txBox="1"/>
          <p:nvPr/>
        </p:nvSpPr>
        <p:spPr>
          <a:xfrm>
            <a:off x="548640" y="777240"/>
            <a:ext cx="11064240" cy="822960"/>
          </a:xfrm>
          <a:prstGeom prst="rect">
            <a:avLst/>
          </a:prstGeom>
          <a:noFill/>
        </p:spPr>
        <p:txBody>
          <a:bodyPr wrap="square" lIns="45720" rIns="45720" anchor="t">
            <a:spAutoFit/>
          </a:bodyPr>
          <a:lstStyle/>
          <a:p>
            <a:pPr algn="l"/>
            <a:r>
              <a:rPr sz="2600" b="1" i="0">
                <a:solidFill>
                  <a:srgbClr val="FFFFFF"/>
                </a:solidFill>
                <a:latin typeface="Calibri"/>
              </a:rPr>
              <a:t>Moat: the model is rented; the memory is ours</a:t>
            </a:r>
          </a:p>
        </p:txBody>
      </p:sp>
      <p:sp>
        <p:nvSpPr>
          <p:cNvPr id="4" name="Rounded Rectangle 3"/>
          <p:cNvSpPr/>
          <p:nvPr/>
        </p:nvSpPr>
        <p:spPr>
          <a:xfrm>
            <a:off x="548640" y="1737360"/>
            <a:ext cx="2651760" cy="30175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600" b="1">
                <a:solidFill>
                  <a:srgbClr val="3DDC97"/>
                </a:solidFill>
                <a:latin typeface="Calibri"/>
              </a:rPr>
              <a:t>Data</a:t>
            </a:r>
          </a:p>
          <a:p>
            <a:pPr algn="ctr"/>
            <a:r>
              <a:rPr sz="1700">
                <a:solidFill>
                  <a:srgbClr val="9FB3CF"/>
                </a:solidFill>
                <a:latin typeface="Calibri"/>
              </a:rPr>
              <a:t>Confirmed register of AtliQ's promises grows with every contract</a:t>
            </a:r>
          </a:p>
        </p:txBody>
      </p:sp>
      <p:sp>
        <p:nvSpPr>
          <p:cNvPr id="5" name="Rounded Rectangle 4"/>
          <p:cNvSpPr/>
          <p:nvPr/>
        </p:nvSpPr>
        <p:spPr>
          <a:xfrm>
            <a:off x="3364992" y="1737360"/>
            <a:ext cx="2651760" cy="30175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600" b="1">
                <a:solidFill>
                  <a:srgbClr val="FFFFFF"/>
                </a:solidFill>
                <a:latin typeface="Calibri"/>
              </a:rPr>
              <a:t>Workflow</a:t>
            </a:r>
          </a:p>
          <a:p>
            <a:pPr algn="ctr"/>
            <a:r>
              <a:rPr sz="1700">
                <a:solidFill>
                  <a:srgbClr val="9FB3CF"/>
                </a:solidFill>
                <a:latin typeface="Calibri"/>
              </a:rPr>
              <a:t>Principles, decisions and audit log live in one place</a:t>
            </a:r>
          </a:p>
        </p:txBody>
      </p:sp>
      <p:sp>
        <p:nvSpPr>
          <p:cNvPr id="6" name="Rounded Rectangle 5"/>
          <p:cNvSpPr/>
          <p:nvPr/>
        </p:nvSpPr>
        <p:spPr>
          <a:xfrm>
            <a:off x="6181344" y="1737360"/>
            <a:ext cx="2651760" cy="30175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600" b="1">
                <a:solidFill>
                  <a:srgbClr val="FFFFFF"/>
                </a:solidFill>
                <a:latin typeface="Calibri"/>
              </a:rPr>
              <a:t>Trust</a:t>
            </a:r>
          </a:p>
          <a:p>
            <a:pPr algn="ctr"/>
            <a:r>
              <a:rPr sz="1700">
                <a:solidFill>
                  <a:srgbClr val="9FB3CF"/>
                </a:solidFill>
                <a:latin typeface="Calibri"/>
              </a:rPr>
              <a:t>Verified quotes; a person decides</a:t>
            </a:r>
          </a:p>
        </p:txBody>
      </p:sp>
      <p:sp>
        <p:nvSpPr>
          <p:cNvPr id="7" name="Rounded Rectangle 6"/>
          <p:cNvSpPr/>
          <p:nvPr/>
        </p:nvSpPr>
        <p:spPr>
          <a:xfrm>
            <a:off x="8997696" y="1737360"/>
            <a:ext cx="2651760" cy="301752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600" b="1">
                <a:solidFill>
                  <a:srgbClr val="FFFFFF"/>
                </a:solidFill>
                <a:latin typeface="Calibri"/>
              </a:rPr>
              <a:t>Model swap</a:t>
            </a:r>
          </a:p>
          <a:p>
            <a:pPr algn="ctr"/>
            <a:r>
              <a:rPr sz="1700">
                <a:solidFill>
                  <a:srgbClr val="9FB3CF"/>
                </a:solidFill>
                <a:latin typeface="Calibri"/>
              </a:rPr>
              <a:t>Gemini, Groq or Claude in a day; the model is not the moat</a:t>
            </a:r>
          </a:p>
        </p:txBody>
      </p:sp>
      <p:sp>
        <p:nvSpPr>
          <p:cNvPr id="8" name="TextBox 7"/>
          <p:cNvSpPr txBox="1"/>
          <p:nvPr/>
        </p:nvSpPr>
        <p:spPr>
          <a:xfrm>
            <a:off x="548640" y="5029200"/>
            <a:ext cx="11064240" cy="1097280"/>
          </a:xfrm>
          <a:prstGeom prst="rect">
            <a:avLst/>
          </a:prstGeom>
          <a:noFill/>
        </p:spPr>
        <p:txBody>
          <a:bodyPr wrap="square" lIns="45720" rIns="45720" anchor="t">
            <a:spAutoFit/>
          </a:bodyPr>
          <a:lstStyle/>
          <a:p>
            <a:pPr algn="l"/>
            <a:r>
              <a:rPr sz="1800" b="0" i="0">
                <a:solidFill>
                  <a:srgbClr val="9FB3CF"/>
                </a:solidFill>
                <a:latin typeface="Calibri"/>
              </a:rPr>
              <a:t>Competitors (LegalOn, Ironclad, Robin AI) review a document against a playbook. Our wedge: the conflict check against AtliQ's own past promises. Honest limit: the moat is thin until the register has depth.</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B2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365760"/>
          </a:xfrm>
          <a:prstGeom prst="rect">
            <a:avLst/>
          </a:prstGeom>
          <a:noFill/>
        </p:spPr>
        <p:txBody>
          <a:bodyPr wrap="square" lIns="45720" rIns="45720" anchor="t">
            <a:spAutoFit/>
          </a:bodyPr>
          <a:lstStyle/>
          <a:p>
            <a:pPr algn="l"/>
            <a:r>
              <a:rPr sz="1600" b="1" i="0">
                <a:solidFill>
                  <a:srgbClr val="9FB3CF"/>
                </a:solidFill>
                <a:latin typeface="Calibri"/>
              </a:rPr>
              <a:t>APPENDIX  |  COST AND SCALE</a:t>
            </a:r>
          </a:p>
        </p:txBody>
      </p:sp>
      <p:sp>
        <p:nvSpPr>
          <p:cNvPr id="3" name="TextBox 2"/>
          <p:cNvSpPr txBox="1"/>
          <p:nvPr/>
        </p:nvSpPr>
        <p:spPr>
          <a:xfrm>
            <a:off x="548640" y="777240"/>
            <a:ext cx="11064240" cy="822960"/>
          </a:xfrm>
          <a:prstGeom prst="rect">
            <a:avLst/>
          </a:prstGeom>
          <a:noFill/>
        </p:spPr>
        <p:txBody>
          <a:bodyPr wrap="square" lIns="45720" rIns="45720" anchor="t">
            <a:spAutoFit/>
          </a:bodyPr>
          <a:lstStyle/>
          <a:p>
            <a:pPr algn="l"/>
            <a:r>
              <a:rPr sz="2600" b="1" i="0">
                <a:solidFill>
                  <a:srgbClr val="FFFFFF"/>
                </a:solidFill>
                <a:latin typeface="Calibri"/>
              </a:rPr>
              <a:t>Cost and scale: pennies of AI per review</a:t>
            </a:r>
          </a:p>
        </p:txBody>
      </p:sp>
      <p:sp>
        <p:nvSpPr>
          <p:cNvPr id="4" name="Rounded Rectangle 3"/>
          <p:cNvSpPr/>
          <p:nvPr/>
        </p:nvSpPr>
        <p:spPr>
          <a:xfrm>
            <a:off x="548640" y="1737360"/>
            <a:ext cx="2651760" cy="18288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000" b="1">
                <a:solidFill>
                  <a:srgbClr val="FFFFFF"/>
                </a:solidFill>
                <a:latin typeface="Calibri"/>
              </a:rPr>
              <a:t>$0.05</a:t>
            </a:r>
          </a:p>
          <a:p>
            <a:pPr algn="ctr"/>
            <a:r>
              <a:rPr sz="1600">
                <a:solidFill>
                  <a:srgbClr val="9FB3CF"/>
                </a:solidFill>
                <a:latin typeface="Calibri"/>
              </a:rPr>
              <a:t>per review</a:t>
            </a:r>
          </a:p>
        </p:txBody>
      </p:sp>
      <p:sp>
        <p:nvSpPr>
          <p:cNvPr id="5" name="Rounded Rectangle 4"/>
          <p:cNvSpPr/>
          <p:nvPr/>
        </p:nvSpPr>
        <p:spPr>
          <a:xfrm>
            <a:off x="3364992" y="1737360"/>
            <a:ext cx="2651760" cy="18288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000" b="1">
                <a:solidFill>
                  <a:srgbClr val="FFFFFF"/>
                </a:solidFill>
                <a:latin typeface="Calibri"/>
              </a:rPr>
              <a:t>$0.78</a:t>
            </a:r>
          </a:p>
          <a:p>
            <a:pPr algn="ctr"/>
            <a:r>
              <a:rPr sz="1600">
                <a:solidFill>
                  <a:srgbClr val="9FB3CF"/>
                </a:solidFill>
                <a:latin typeface="Calibri"/>
              </a:rPr>
              <a:t>a month today</a:t>
            </a:r>
          </a:p>
        </p:txBody>
      </p:sp>
      <p:sp>
        <p:nvSpPr>
          <p:cNvPr id="6" name="Rounded Rectangle 5"/>
          <p:cNvSpPr/>
          <p:nvPr/>
        </p:nvSpPr>
        <p:spPr>
          <a:xfrm>
            <a:off x="6181344" y="1737360"/>
            <a:ext cx="2651760" cy="18288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000" b="1">
                <a:solidFill>
                  <a:srgbClr val="FFFFFF"/>
                </a:solidFill>
                <a:latin typeface="Calibri"/>
              </a:rPr>
              <a:t>~$1,100</a:t>
            </a:r>
          </a:p>
          <a:p>
            <a:pPr algn="ctr"/>
            <a:r>
              <a:rPr sz="1600">
                <a:solidFill>
                  <a:srgbClr val="9FB3CF"/>
                </a:solidFill>
                <a:latin typeface="Calibri"/>
              </a:rPr>
              <a:t>saved a month (assumed)</a:t>
            </a:r>
          </a:p>
        </p:txBody>
      </p:sp>
      <p:sp>
        <p:nvSpPr>
          <p:cNvPr id="7" name="Rounded Rectangle 6"/>
          <p:cNvSpPr/>
          <p:nvPr/>
        </p:nvSpPr>
        <p:spPr>
          <a:xfrm>
            <a:off x="8997696" y="1737360"/>
            <a:ext cx="2651760" cy="1828800"/>
          </a:xfrm>
          <a:prstGeom prst="roundRect">
            <a:avLst>
              <a:gd name="adj" fmla="val 10000"/>
            </a:avLst>
          </a:prstGeom>
          <a:solidFill>
            <a:srgbClr val="1A2B4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4000" b="1">
                <a:solidFill>
                  <a:srgbClr val="FFFFFF"/>
                </a:solidFill>
                <a:latin typeface="Calibri"/>
              </a:rPr>
              <a:t>~$5</a:t>
            </a:r>
          </a:p>
          <a:p>
            <a:pPr algn="ctr"/>
            <a:r>
              <a:rPr sz="1600">
                <a:solidFill>
                  <a:srgbClr val="9FB3CF"/>
                </a:solidFill>
                <a:latin typeface="Calibri"/>
              </a:rPr>
              <a:t>10x volume, model fees</a:t>
            </a:r>
          </a:p>
        </p:txBody>
      </p:sp>
      <p:graphicFrame>
        <p:nvGraphicFramePr>
          <p:cNvPr id="8" name="Table 7"/>
          <p:cNvGraphicFramePr>
            <a:graphicFrameLocks noGrp="1"/>
          </p:cNvGraphicFramePr>
          <p:nvPr/>
        </p:nvGraphicFramePr>
        <p:xfrm>
          <a:off x="548640" y="3840480"/>
          <a:ext cx="11064239" cy="201168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7955279">
                  <a:extLst>
                    <a:ext uri="{9D8B030D-6E8A-4147-A177-3AD203B41FA5}">
                      <a16:colId xmlns:a16="http://schemas.microsoft.com/office/drawing/2014/main" val="20001"/>
                    </a:ext>
                  </a:extLst>
                </a:gridCol>
              </a:tblGrid>
              <a:tr h="502920">
                <a:tc>
                  <a:txBody>
                    <a:bodyPr/>
                    <a:lstStyle/>
                    <a:p>
                      <a:r>
                        <a:rPr sz="1300" b="1">
                          <a:solidFill>
                            <a:srgbClr val="FFFFFF"/>
                          </a:solidFill>
                          <a:latin typeface="Calibri"/>
                        </a:rPr>
                        <a:t>Lever</a:t>
                      </a:r>
                    </a:p>
                  </a:txBody>
                  <a:tcPr marL="73152" marR="73152" anchor="ctr">
                    <a:solidFill>
                      <a:srgbClr val="22375A"/>
                    </a:solidFill>
                  </a:tcPr>
                </a:tc>
                <a:tc>
                  <a:txBody>
                    <a:bodyPr/>
                    <a:lstStyle/>
                    <a:p>
                      <a:r>
                        <a:rPr sz="1300" b="1">
                          <a:solidFill>
                            <a:srgbClr val="FFFFFF"/>
                          </a:solidFill>
                          <a:latin typeface="Calibri"/>
                        </a:rPr>
                        <a:t>What we do</a:t>
                      </a:r>
                    </a:p>
                  </a:txBody>
                  <a:tcPr marL="73152" marR="73152" anchor="ctr">
                    <a:solidFill>
                      <a:srgbClr val="22375A"/>
                    </a:solidFill>
                  </a:tcPr>
                </a:tc>
                <a:extLst>
                  <a:ext uri="{0D108BD9-81ED-4DB2-BD59-A6C34878D82A}">
                    <a16:rowId xmlns:a16="http://schemas.microsoft.com/office/drawing/2014/main" val="10000"/>
                  </a:ext>
                </a:extLst>
              </a:tr>
              <a:tr h="502920">
                <a:tc>
                  <a:txBody>
                    <a:bodyPr/>
                    <a:lstStyle/>
                    <a:p>
                      <a:r>
                        <a:rPr sz="1300" b="0">
                          <a:solidFill>
                            <a:srgbClr val="E6EDF8"/>
                          </a:solidFill>
                          <a:latin typeface="Calibri"/>
                        </a:rPr>
                        <a:t>Cheapest approach that works</a:t>
                      </a:r>
                    </a:p>
                  </a:txBody>
                  <a:tcPr marL="73152" marR="73152" anchor="ctr">
                    <a:solidFill>
                      <a:srgbClr val="1A2B47"/>
                    </a:solidFill>
                  </a:tcPr>
                </a:tc>
                <a:tc>
                  <a:txBody>
                    <a:bodyPr/>
                    <a:lstStyle/>
                    <a:p>
                      <a:r>
                        <a:rPr sz="1300" b="0">
                          <a:solidFill>
                            <a:srgbClr val="E6EDF8"/>
                          </a:solidFill>
                          <a:latin typeface="Calibri"/>
                        </a:rPr>
                        <a:t>Code for exact checks (free); a light model reads; a stronger one judges only where needed</a:t>
                      </a:r>
                    </a:p>
                  </a:txBody>
                  <a:tcPr marL="73152" marR="73152" anchor="ctr">
                    <a:solidFill>
                      <a:srgbClr val="1A2B47"/>
                    </a:solidFill>
                  </a:tcPr>
                </a:tc>
                <a:extLst>
                  <a:ext uri="{0D108BD9-81ED-4DB2-BD59-A6C34878D82A}">
                    <a16:rowId xmlns:a16="http://schemas.microsoft.com/office/drawing/2014/main" val="10001"/>
                  </a:ext>
                </a:extLst>
              </a:tr>
              <a:tr h="502920">
                <a:tc>
                  <a:txBody>
                    <a:bodyPr/>
                    <a:lstStyle/>
                    <a:p>
                      <a:r>
                        <a:rPr sz="1300" b="0">
                          <a:solidFill>
                            <a:srgbClr val="E6EDF8"/>
                          </a:solidFill>
                          <a:latin typeface="Calibri"/>
                        </a:rPr>
                        <a:t>Token usage</a:t>
                      </a:r>
                    </a:p>
                  </a:txBody>
                  <a:tcPr marL="73152" marR="73152" anchor="ctr">
                    <a:solidFill>
                      <a:srgbClr val="0F1B2E"/>
                    </a:solidFill>
                  </a:tcPr>
                </a:tc>
                <a:tc>
                  <a:txBody>
                    <a:bodyPr/>
                    <a:lstStyle/>
                    <a:p>
                      <a:r>
                        <a:rPr sz="1300" b="0">
                          <a:solidFill>
                            <a:srgbClr val="E6EDF8"/>
                          </a:solidFill>
                          <a:latin typeface="Calibri"/>
                        </a:rPr>
                        <a:t>Clauses in batches; short principles and register summary; cache what repeats</a:t>
                      </a:r>
                    </a:p>
                  </a:txBody>
                  <a:tcPr marL="73152" marR="73152" anchor="ctr">
                    <a:solidFill>
                      <a:srgbClr val="0F1B2E"/>
                    </a:solidFill>
                  </a:tcPr>
                </a:tc>
                <a:extLst>
                  <a:ext uri="{0D108BD9-81ED-4DB2-BD59-A6C34878D82A}">
                    <a16:rowId xmlns:a16="http://schemas.microsoft.com/office/drawing/2014/main" val="10002"/>
                  </a:ext>
                </a:extLst>
              </a:tr>
              <a:tr h="502920">
                <a:tc>
                  <a:txBody>
                    <a:bodyPr/>
                    <a:lstStyle/>
                    <a:p>
                      <a:r>
                        <a:rPr sz="1300" b="0">
                          <a:solidFill>
                            <a:srgbClr val="E6EDF8"/>
                          </a:solidFill>
                          <a:latin typeface="Calibri"/>
                        </a:rPr>
                        <a:t>What would change the answer</a:t>
                      </a:r>
                    </a:p>
                  </a:txBody>
                  <a:tcPr marL="73152" marR="73152" anchor="ctr">
                    <a:solidFill>
                      <a:srgbClr val="1A2B47"/>
                    </a:solidFill>
                  </a:tcPr>
                </a:tc>
                <a:tc>
                  <a:txBody>
                    <a:bodyPr/>
                    <a:lstStyle/>
                    <a:p>
                      <a:r>
                        <a:rPr sz="1300" b="0">
                          <a:solidFill>
                            <a:srgbClr val="E6EDF8"/>
                          </a:solidFill>
                          <a:latin typeface="Calibri"/>
                        </a:rPr>
                        <a:t>Contracts over 40 pages or over 60 documents a month: re-model first</a:t>
                      </a:r>
                    </a:p>
                  </a:txBody>
                  <a:tcPr marL="73152" marR="73152" anchor="ctr">
                    <a:solidFill>
                      <a:srgbClr val="1A2B47"/>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1452</Words>
  <Application>Microsoft Office PowerPoint</Application>
  <PresentationFormat>Widescreen</PresentationFormat>
  <Paragraphs>231</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Ishan Prasanna Kamthekar</cp:lastModifiedBy>
  <cp:revision>3</cp:revision>
  <dcterms:created xsi:type="dcterms:W3CDTF">2013-01-27T09:14:16Z</dcterms:created>
  <dcterms:modified xsi:type="dcterms:W3CDTF">2026-10-19T16:02:17Z</dcterms:modified>
  <cp:category/>
</cp:coreProperties>
</file>